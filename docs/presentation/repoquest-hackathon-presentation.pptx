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b8b9fc7f4944ac4" /><Relationship Type="http://schemas.openxmlformats.org/officeDocument/2006/relationships/extended-properties" Target="/docProps/app.xml" Id="Rd13eec4f78724cb3" /><Relationship Type="http://schemas.openxmlformats.org/officeDocument/2006/relationships/officeDocument" Target="/ppt/presentation.xml" Id="R692429261d8a44d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bba08a33ce841fd"/>
  </p:sldMasterIdLst>
  <p:notesMasterIdLst>
    <p:notesMasterId xmlns:r="http://schemas.openxmlformats.org/officeDocument/2006/relationships" r:id="R9983eb7ad82c408d"/>
  </p:notesMasterIdLst>
  <p:sldIdLst>
    <p:sldId xmlns:r="http://schemas.openxmlformats.org/officeDocument/2006/relationships" id="256" r:id="R65ab33e7f9ce413b"/>
    <p:sldId xmlns:r="http://schemas.openxmlformats.org/officeDocument/2006/relationships" id="257" r:id="R52bcab40af124944"/>
    <p:sldId xmlns:r="http://schemas.openxmlformats.org/officeDocument/2006/relationships" id="258" r:id="R3840211832244a1c"/>
    <p:sldId xmlns:r="http://schemas.openxmlformats.org/officeDocument/2006/relationships" id="259" r:id="R6ead070d4cf34487"/>
    <p:sldId xmlns:r="http://schemas.openxmlformats.org/officeDocument/2006/relationships" id="260" r:id="Rcf010b01cef04e1f"/>
    <p:sldId xmlns:r="http://schemas.openxmlformats.org/officeDocument/2006/relationships" id="261" r:id="Re4d5cb62def04ac1"/>
    <p:sldId xmlns:r="http://schemas.openxmlformats.org/officeDocument/2006/relationships" id="262" r:id="Rb0fec881c6624ec5"/>
    <p:sldId xmlns:r="http://schemas.openxmlformats.org/officeDocument/2006/relationships" id="263" r:id="R98970f9defa24f1a"/>
    <p:sldId xmlns:r="http://schemas.openxmlformats.org/officeDocument/2006/relationships" id="264" r:id="R1bf5c2ef60bc4c29"/>
    <p:sldId xmlns:r="http://schemas.openxmlformats.org/officeDocument/2006/relationships" id="265" r:id="Re77ad05b73cc487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ba08a33ce841fd" /><Relationship Type="http://schemas.openxmlformats.org/officeDocument/2006/relationships/theme" Target="/ppt/theme/theme1.xml" Id="R758f1e2ff1db4084" /><Relationship Type="http://schemas.openxmlformats.org/officeDocument/2006/relationships/notesMaster" Target="/ppt/notesMasters/notesMaster1.xml" Id="R9983eb7ad82c408d" /><Relationship Type="http://schemas.openxmlformats.org/officeDocument/2006/relationships/presProps" Target="/ppt/presProps.xml" Id="Re267c9d2e4b64976" /><Relationship Type="http://schemas.openxmlformats.org/officeDocument/2006/relationships/viewProps" Target="/ppt/viewProps.xml" Id="R41138aa5d1264263" /><Relationship Type="http://schemas.openxmlformats.org/officeDocument/2006/relationships/tableStyles" Target="/ppt/tableStyles.xml" Id="R921d9923e1d94527" /><Relationship Type="http://schemas.openxmlformats.org/officeDocument/2006/relationships/slide" Target="/ppt/slides/slide1.xml" Id="R65ab33e7f9ce413b" /><Relationship Type="http://schemas.openxmlformats.org/officeDocument/2006/relationships/slide" Target="/ppt/slides/slide2.xml" Id="R52bcab40af124944" /><Relationship Type="http://schemas.openxmlformats.org/officeDocument/2006/relationships/slide" Target="/ppt/slides/slide3.xml" Id="R3840211832244a1c" /><Relationship Type="http://schemas.openxmlformats.org/officeDocument/2006/relationships/slide" Target="/ppt/slides/slide4.xml" Id="R6ead070d4cf34487" /><Relationship Type="http://schemas.openxmlformats.org/officeDocument/2006/relationships/slide" Target="/ppt/slides/slide5.xml" Id="Rcf010b01cef04e1f" /><Relationship Type="http://schemas.openxmlformats.org/officeDocument/2006/relationships/slide" Target="/ppt/slides/slide6.xml" Id="Re4d5cb62def04ac1" /><Relationship Type="http://schemas.openxmlformats.org/officeDocument/2006/relationships/slide" Target="/ppt/slides/slide7.xml" Id="Rb0fec881c6624ec5" /><Relationship Type="http://schemas.openxmlformats.org/officeDocument/2006/relationships/slide" Target="/ppt/slides/slide8.xml" Id="R98970f9defa24f1a" /><Relationship Type="http://schemas.openxmlformats.org/officeDocument/2006/relationships/slide" Target="/ppt/slides/slide9.xml" Id="R1bf5c2ef60bc4c29" /><Relationship Type="http://schemas.openxmlformats.org/officeDocument/2006/relationships/slide" Target="/ppt/slides/slide10.xml" Id="Re77ad05b73cc487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973f760c14454c9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0a64b67c6e1403b" /><Relationship Type="http://schemas.openxmlformats.org/officeDocument/2006/relationships/notesMaster" Target="/ppt/notesMasters/notesMaster1.xml" Id="R7028b7721a7c4ad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04a433b7be04444" /><Relationship Type="http://schemas.openxmlformats.org/officeDocument/2006/relationships/notesMaster" Target="/ppt/notesMasters/notesMaster1.xml" Id="R9204ed4d0df5477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e57902423c4490e" /><Relationship Type="http://schemas.openxmlformats.org/officeDocument/2006/relationships/notesMaster" Target="/ppt/notesMasters/notesMaster1.xml" Id="Re72433f7cc174a1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1dd61cdde204299" /><Relationship Type="http://schemas.openxmlformats.org/officeDocument/2006/relationships/notesMaster" Target="/ppt/notesMasters/notesMaster1.xml" Id="Rb38065e6440d4c6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a6f8f487ca2464a" /><Relationship Type="http://schemas.openxmlformats.org/officeDocument/2006/relationships/notesMaster" Target="/ppt/notesMasters/notesMaster1.xml" Id="R55bdc6d5dfaa4ee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52c66f3879141d6" /><Relationship Type="http://schemas.openxmlformats.org/officeDocument/2006/relationships/notesMaster" Target="/ppt/notesMasters/notesMaster1.xml" Id="Rc7cfd80e2e4b42a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8e7f83008384c7b" /><Relationship Type="http://schemas.openxmlformats.org/officeDocument/2006/relationships/notesMaster" Target="/ppt/notesMasters/notesMaster1.xml" Id="R8b07514e0ac7435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3752ddab5094ddb" /><Relationship Type="http://schemas.openxmlformats.org/officeDocument/2006/relationships/notesMaster" Target="/ppt/notesMasters/notesMaster1.xml" Id="R431e372c60ba462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dcea089047a43f0" /><Relationship Type="http://schemas.openxmlformats.org/officeDocument/2006/relationships/notesMaster" Target="/ppt/notesMasters/notesMaster1.xml" Id="R79d605cac9a240b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0c1da7c681e4e8e" /><Relationship Type="http://schemas.openxmlformats.org/officeDocument/2006/relationships/notesMaster" Target="/ppt/notesMasters/notesMaster1.xml" Id="Rc58ccf96f86e4f2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87b3196cbd4fce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04b0b4bf5ad5422e" /><Relationship Type="http://schemas.openxmlformats.org/officeDocument/2006/relationships/slideLayout" Target="/ppt/slideLayouts/slideLayout2.xml" Id="Rf558c73de81f4b1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558c73de81f4b1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f41615318e04a21" /><Relationship Type="http://schemas.openxmlformats.org/officeDocument/2006/relationships/notesSlide" Target="/ppt/notesSlides/notesSlide1.xml" Id="R61dc2abf2591491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167844f8b3c41cf" /><Relationship Type="http://schemas.openxmlformats.org/officeDocument/2006/relationships/notesSlide" Target="/ppt/notesSlides/notesSlide2.xml" Id="Re116cd189d1e42e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2c568f72d3949cf" /><Relationship Type="http://schemas.openxmlformats.org/officeDocument/2006/relationships/notesSlide" Target="/ppt/notesSlides/notesSlide3.xml" Id="Rfb134d7f1b6940a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9732e231fc049b9" /><Relationship Type="http://schemas.openxmlformats.org/officeDocument/2006/relationships/notesSlide" Target="/ppt/notesSlides/notesSlide4.xml" Id="R8d8f5f9d4b8a4c1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4bb8ad176f14686" /><Relationship Type="http://schemas.openxmlformats.org/officeDocument/2006/relationships/notesSlide" Target="/ppt/notesSlides/notesSlide5.xml" Id="Re7f6e20c2f424d6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1f774b06ca84205" /><Relationship Type="http://schemas.openxmlformats.org/officeDocument/2006/relationships/notesSlide" Target="/ppt/notesSlides/notesSlide6.xml" Id="R30f54213e938414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6362afee4d94a2e" /><Relationship Type="http://schemas.openxmlformats.org/officeDocument/2006/relationships/notesSlide" Target="/ppt/notesSlides/notesSlide7.xml" Id="Rf81aab834e69412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11ae42cdf4442dc" /><Relationship Type="http://schemas.openxmlformats.org/officeDocument/2006/relationships/notesSlide" Target="/ppt/notesSlides/notesSlide8.xml" Id="Rd4172d9748b7449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b6c725fd8f54912" /><Relationship Type="http://schemas.openxmlformats.org/officeDocument/2006/relationships/notesSlide" Target="/ppt/notesSlides/notesSlide9.xml" Id="Rf8eb7b640c194a9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c5dc00bacd84928" /><Relationship Type="http://schemas.openxmlformats.org/officeDocument/2006/relationships/notesSlide" Target="/ppt/notesSlides/notesSlide10.xml" Id="Rbb18de5913814d91" /></Relationships>
</file>

<file path=ppt/slides/slide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1" name="">
            <a:extLst>
              <a:ext uri="{FF2B5EF4-FFF2-40B4-BE49-F238E27FC236}">
                <ns2:creationId id="{08DA8C71-9FD1-43EC-AA31-EE480F4895A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2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1-marker">
            <a:extLst>
              <a:ext uri="{FF2B5EF4-FFF2-40B4-BE49-F238E27FC236}">
                <ns2:creationId id="{D2FA36C7-BEED-416C-9B43-E6D2781CFF73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95250" cy="95250"/>
          </a:xfrm>
          <a:prstGeom prst="rect">
            <a:avLst/>
          </a:prstGeom>
          <a:solidFill>
            <a:srgbClr val="D890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01-label">
            <a:extLst>
              <a:ext uri="{FF2B5EF4-FFF2-40B4-BE49-F238E27FC236}">
                <ns2:creationId id="{1F9201FD-A543-4C8C-A653-973F3F87FE63}"/>
              </a:ext>
            </a:extLst>
          </p:cNvPr>
          <p:cNvSpPr>
            <a:spLocks noGrp="1"/>
          </p:cNvSpPr>
          <p:nvPr/>
        </p:nvSpPr>
        <p:spPr>
          <a:xfrm>
            <a:off x="800100" y="381000"/>
            <a:ext cx="2857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657184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657184"/>
                </a:solidFill>
                <a:latin typeface="Avenir Next"/>
                <a:ea typeface="Avenir Next"/>
                <a:cs typeface="Avenir Next"/>
              </a:rPr>
              <a:t>IBM BOB HACKATHON</a:t>
            </a:r>
          </a:p>
        </p:txBody>
      </p:sp>
      <p:sp>
        <p:nvSpPr>
          <p:cNvPr id="5" name="">
            <a:extLst>
              <a:ext uri="{FF2B5EF4-FFF2-40B4-BE49-F238E27FC236}">
                <ns2:creationId id="{B54CFAE2-3A46-4435-92CF-29A1319CE6A6}"/>
              </a:ext>
            </a:extLst>
          </p:cNvPr>
          <p:cNvSpPr>
            <a:spLocks noGrp="1"/>
          </p:cNvSpPr>
          <p:nvPr/>
        </p:nvSpPr>
        <p:spPr>
          <a:xfrm>
            <a:off x="609600" y="1123950"/>
            <a:ext cx="64770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4350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4350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RepoQuest</a:t>
            </a:r>
          </a:p>
        </p:txBody>
      </p:sp>
      <p:sp>
        <p:nvSpPr>
          <p:cNvPr id="6" name="">
            <a:extLst>
              <a:ext uri="{FF2B5EF4-FFF2-40B4-BE49-F238E27FC236}">
                <ns2:creationId id="{07342B52-C8FF-44C8-B902-9D285E6AB1FB}"/>
              </a:ext>
            </a:extLst>
          </p:cNvPr>
          <p:cNvSpPr>
            <a:spLocks noGrp="1"/>
          </p:cNvSpPr>
          <p:nvPr/>
        </p:nvSpPr>
        <p:spPr>
          <a:xfrm>
            <a:off x="609600" y="1952625"/>
            <a:ext cx="6096000" cy="1428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2850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Turn an unfamiliar repo into an onboarding quest.</a:t>
            </a:r>
          </a:p>
        </p:txBody>
      </p:sp>
      <p:sp>
        <p:nvSpPr>
          <p:cNvPr id="7" name="">
            <a:extLst>
              <a:ext uri="{FF2B5EF4-FFF2-40B4-BE49-F238E27FC236}">
                <ns2:creationId id="{A905B230-601E-4BB4-8588-AA016F2EF486}"/>
              </a:ext>
            </a:extLst>
          </p:cNvPr>
          <p:cNvSpPr>
            <a:spLocks noGrp="1"/>
          </p:cNvSpPr>
          <p:nvPr/>
        </p:nvSpPr>
        <p:spPr>
          <a:xfrm>
            <a:off x="628650" y="3571875"/>
            <a:ext cx="619125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657184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657184"/>
                </a:solidFill>
                <a:latin typeface="Avenir Next"/>
                <a:ea typeface="Avenir Next"/>
                <a:cs typeface="Avenir Next"/>
              </a:rPr>
              <a:t>A Streamlit app that scans a small codebase, maps its architecture, creates a reading path, builds component cards, quizzes new contributors, and exports a Markdown guide.</a:t>
            </a:r>
          </a:p>
        </p:txBody>
      </p:sp>
      <p:sp>
        <p:nvSpPr>
          <p:cNvPr id="8" name="">
            <a:extLst>
              <a:ext uri="{FF2B5EF4-FFF2-40B4-BE49-F238E27FC236}">
                <ns2:creationId id="{D8557D97-53CE-4379-8B93-25AB670156EA}"/>
              </a:ext>
            </a:extLst>
          </p:cNvPr>
          <p:cNvSpPr>
            <a:spLocks noGrp="1"/>
          </p:cNvSpPr>
          <p:nvPr/>
        </p:nvSpPr>
        <p:spPr>
          <a:xfrm>
            <a:off x="628650" y="5048250"/>
            <a:ext cx="1714500" cy="323850"/>
          </a:xfrm>
          <a:prstGeom prst="rect">
            <a:avLst/>
          </a:prstGeom>
          <a:solidFill>
            <a:srgbClr val="DDF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>
              <a:ext uri="{FF2B5EF4-FFF2-40B4-BE49-F238E27FC236}">
                <ns2:creationId id="{0A9E6275-8325-4993-9DC7-C55F184799A4}"/>
              </a:ext>
            </a:extLst>
          </p:cNvPr>
          <p:cNvSpPr>
            <a:spLocks noGrp="1"/>
          </p:cNvSpPr>
          <p:nvPr/>
        </p:nvSpPr>
        <p:spPr>
          <a:xfrm>
            <a:off x="762000" y="5105400"/>
            <a:ext cx="14478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safe static analysis</a:t>
            </a:r>
          </a:p>
        </p:txBody>
      </p:sp>
      <p:sp>
        <p:nvSpPr>
          <p:cNvPr id="10" name="">
            <a:extLst>
              <a:ext uri="{FF2B5EF4-FFF2-40B4-BE49-F238E27FC236}">
                <ns2:creationId id="{4A184619-EA95-4104-826C-E63850EC1B4E}"/>
              </a:ext>
            </a:extLst>
          </p:cNvPr>
          <p:cNvSpPr>
            <a:spLocks noGrp="1"/>
          </p:cNvSpPr>
          <p:nvPr/>
        </p:nvSpPr>
        <p:spPr>
          <a:xfrm>
            <a:off x="2514600" y="5048250"/>
            <a:ext cx="1619250" cy="323850"/>
          </a:xfrm>
          <a:prstGeom prst="rect">
            <a:avLst/>
          </a:prstGeom>
          <a:solidFill>
            <a:srgbClr val="DCE8F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>
              <a:ext uri="{FF2B5EF4-FFF2-40B4-BE49-F238E27FC236}">
                <ns2:creationId id="{BAA69539-01C8-4F71-AD3A-7ED52F49A430}"/>
              </a:ext>
            </a:extLst>
          </p:cNvPr>
          <p:cNvSpPr>
            <a:spLocks noGrp="1"/>
          </p:cNvSpPr>
          <p:nvPr/>
        </p:nvSpPr>
        <p:spPr>
          <a:xfrm>
            <a:off x="2647950" y="5105400"/>
            <a:ext cx="13525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AI Fusion optional</a:t>
            </a:r>
          </a:p>
        </p:txBody>
      </p:sp>
      <p:sp>
        <p:nvSpPr>
          <p:cNvPr id="12" name="">
            <a:extLst>
              <a:ext uri="{FF2B5EF4-FFF2-40B4-BE49-F238E27FC236}">
                <ns2:creationId id="{83019443-A3B9-49FF-9201-95E72975CF7F}"/>
              </a:ext>
            </a:extLst>
          </p:cNvPr>
          <p:cNvSpPr>
            <a:spLocks noGrp="1"/>
          </p:cNvSpPr>
          <p:nvPr/>
        </p:nvSpPr>
        <p:spPr>
          <a:xfrm>
            <a:off x="4305300" y="5048250"/>
            <a:ext cx="1238250" cy="323850"/>
          </a:xfrm>
          <a:prstGeom prst="rect">
            <a:avLst/>
          </a:prstGeom>
          <a:solidFill>
            <a:srgbClr val="F4DFC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>
              <a:ext uri="{FF2B5EF4-FFF2-40B4-BE49-F238E27FC236}">
                <ns2:creationId id="{C91892CC-A82A-46DC-8912-5EFFA6A639F7}"/>
              </a:ext>
            </a:extLst>
          </p:cNvPr>
          <p:cNvSpPr>
            <a:spLocks noGrp="1"/>
          </p:cNvSpPr>
          <p:nvPr/>
        </p:nvSpPr>
        <p:spPr>
          <a:xfrm>
            <a:off x="4438650" y="5105400"/>
            <a:ext cx="9715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demo-ready</a:t>
            </a:r>
          </a:p>
        </p:txBody>
      </p:sp>
      <p:sp>
        <p:nvSpPr>
          <p:cNvPr id="90" name="kicker-01-label">
            <a:extLst>
              <a:ext uri="{FF2B5EF4-FFF2-40B4-BE49-F238E27FC236}">
                <ns2:creationId id="{38AAFE04-613D-40BB-BF83-8C89AE3C393B}"/>
              </a:ext>
            </a:extLst>
          </p:cNvPr>
          <p:cNvSpPr>
            <a:spLocks noGrp="1"/>
          </p:cNvSpPr>
          <p:nvPr/>
        </p:nvSpPr>
        <p:spPr>
          <a:xfrm>
            <a:off x="628650" y="4457700"/>
            <a:ext cx="1150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657184"/>
                </a:solidFill>
                <a:latin typeface="Avenir Next"/>
                <a:ea typeface="Avenir Next"/>
                <a:cs typeface="Avenir Next"/>
              </a:defRPr>
            </a:pPr>
            <a:r>
              <a:rPr sz="1250" b="1">
                <a:solidFill>
                  <a:srgbClr val="6F7C91"/>
                </a:solidFill>
              </a:rPr>
              <a:t>Presented by</a:t>
            </a:r>
          </a:p>
        </p:txBody>
      </p:sp>
      <p:sp>
        <p:nvSpPr>
          <p:cNvPr id="91" name="kicker-01-label">
            <a:extLst>
              <a:ext uri="{FF2B5EF4-FFF2-40B4-BE49-F238E27FC236}">
                <ns2:creationId id="{C87829DE-900C-4293-96F6-88E29ACC2F72}"/>
              </a:ext>
            </a:extLst>
          </p:cNvPr>
          <p:cNvSpPr>
            <a:spLocks noGrp="1"/>
          </p:cNvSpPr>
          <p:nvPr/>
        </p:nvSpPr>
        <p:spPr>
          <a:xfrm>
            <a:off x="628650" y="4686300"/>
            <a:ext cx="5200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657184"/>
                </a:solidFill>
                <a:latin typeface="Avenir Next"/>
                <a:ea typeface="Avenir Next"/>
                <a:cs typeface="Avenir Next"/>
              </a:defRPr>
            </a:pPr>
            <a:r>
              <a:rPr sz="1550" b="1">
                <a:solidFill>
                  <a:srgbClr val="101828"/>
                </a:solidFill>
              </a:rPr>
              <a:t>Ovidiu-Ștefan Andreescu  |  Sirbu-Boeti-Eduard</a:t>
            </a:r>
          </a:p>
        </p:txBody>
      </p:sp>
      <p:sp>
        <p:nvSpPr>
          <p:cNvPr id="100" name="">
            <a:extLst>
              <a:ext uri="{FF2B5EF4-FFF2-40B4-BE49-F238E27FC236}">
                <ns2:creationId id="{65BB5C3B-453D-4CF0-A968-43A8A750EA4C}"/>
              </a:ext>
            </a:extLst>
          </p:cNvPr>
          <p:cNvSpPr>
            <a:spLocks noGrp="1"/>
          </p:cNvSpPr>
          <p:nvPr/>
        </p:nvSpPr>
        <p:spPr>
          <a:xfrm>
            <a:off x="7791450" y="1943100"/>
            <a:ext cx="2714625" cy="457200"/>
          </a:xfrm>
          <a:prstGeom prst="rect">
            <a:avLst/>
          </a:prstGeom>
          <a:solidFill>
            <a:srgbClr val="D9F2EA"/>
          </a:solidFill>
          <a:ln w="12700">
            <a:noFill/>
          </a:ln>
        </p:spPr>
      </p:sp>
      <p:sp>
        <p:nvSpPr>
          <p:cNvPr id="110" name="kicker-01-label">
            <a:extLst>
              <a:ext uri="{FF2B5EF4-FFF2-40B4-BE49-F238E27FC236}">
                <ns2:creationId id="{587E5B6C-5B53-423B-AD23-EC55EE6C199B}"/>
              </a:ext>
            </a:extLst>
          </p:cNvPr>
          <p:cNvSpPr>
            <a:spLocks noGrp="1"/>
          </p:cNvSpPr>
          <p:nvPr/>
        </p:nvSpPr>
        <p:spPr>
          <a:xfrm>
            <a:off x="7962900" y="2057400"/>
            <a:ext cx="237172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657184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101828"/>
                </a:solidFill>
              </a:rPr>
              <a:t>Scan repo</a:t>
            </a:r>
          </a:p>
        </p:txBody>
      </p:sp>
      <p:sp>
        <p:nvSpPr>
          <p:cNvPr id="120" name="">
            <a:extLst>
              <a:ext uri="{FF2B5EF4-FFF2-40B4-BE49-F238E27FC236}">
                <ns2:creationId id="{63E28D3C-C041-4999-B032-EE949BA7AE2A}"/>
              </a:ext>
            </a:extLst>
          </p:cNvPr>
          <p:cNvSpPr>
            <a:spLocks noGrp="1"/>
          </p:cNvSpPr>
          <p:nvPr/>
        </p:nvSpPr>
        <p:spPr>
          <a:xfrm>
            <a:off x="9129712" y="2476500"/>
            <a:ext cx="38100" cy="476250"/>
          </a:xfrm>
          <a:prstGeom prst="rect">
            <a:avLst/>
          </a:prstGeom>
          <a:solidFill>
            <a:srgbClr val="AEBBD0"/>
          </a:solidFill>
          <a:ln w="0">
            <a:noFill/>
          </a:ln>
        </p:spPr>
      </p:sp>
      <p:sp>
        <p:nvSpPr>
          <p:cNvPr id="101" name="">
            <a:extLst>
              <a:ext uri="{FF2B5EF4-FFF2-40B4-BE49-F238E27FC236}">
                <ns2:creationId id="{AD5F371F-E5D6-4797-AE90-8FDEE05B77BC}"/>
              </a:ext>
            </a:extLst>
          </p:cNvPr>
          <p:cNvSpPr>
            <a:spLocks noGrp="1"/>
          </p:cNvSpPr>
          <p:nvPr/>
        </p:nvSpPr>
        <p:spPr>
          <a:xfrm>
            <a:off x="7791450" y="3028950"/>
            <a:ext cx="2714625" cy="457200"/>
          </a:xfrm>
          <a:prstGeom prst="rect">
            <a:avLst/>
          </a:prstGeom>
          <a:solidFill>
            <a:srgbClr val="DCEAF8"/>
          </a:solidFill>
          <a:ln w="12700">
            <a:noFill/>
          </a:ln>
        </p:spPr>
      </p:sp>
      <p:sp>
        <p:nvSpPr>
          <p:cNvPr id="111" name="kicker-01-label">
            <a:extLst>
              <a:ext uri="{FF2B5EF4-FFF2-40B4-BE49-F238E27FC236}">
                <ns2:creationId id="{63EAB73D-24D5-40EF-8B66-C68C9B1E8544}"/>
              </a:ext>
            </a:extLst>
          </p:cNvPr>
          <p:cNvSpPr>
            <a:spLocks noGrp="1"/>
          </p:cNvSpPr>
          <p:nvPr/>
        </p:nvSpPr>
        <p:spPr>
          <a:xfrm>
            <a:off x="7962900" y="3143250"/>
            <a:ext cx="237172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657184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101828"/>
                </a:solidFill>
              </a:rPr>
              <a:t>Map architecture</a:t>
            </a:r>
          </a:p>
        </p:txBody>
      </p:sp>
      <p:sp>
        <p:nvSpPr>
          <p:cNvPr id="121" name="">
            <a:extLst>
              <a:ext uri="{FF2B5EF4-FFF2-40B4-BE49-F238E27FC236}">
                <ns2:creationId id="{7AFF8057-AD0C-47A7-87EB-BA5FCBB8D150}"/>
              </a:ext>
            </a:extLst>
          </p:cNvPr>
          <p:cNvSpPr>
            <a:spLocks noGrp="1"/>
          </p:cNvSpPr>
          <p:nvPr/>
        </p:nvSpPr>
        <p:spPr>
          <a:xfrm>
            <a:off x="9129712" y="3562350"/>
            <a:ext cx="38100" cy="476250"/>
          </a:xfrm>
          <a:prstGeom prst="rect">
            <a:avLst/>
          </a:prstGeom>
          <a:solidFill>
            <a:srgbClr val="AEBBD0"/>
          </a:solidFill>
          <a:ln w="0">
            <a:noFill/>
          </a:ln>
        </p:spPr>
      </p:sp>
      <p:sp>
        <p:nvSpPr>
          <p:cNvPr id="102" name="">
            <a:extLst>
              <a:ext uri="{FF2B5EF4-FFF2-40B4-BE49-F238E27FC236}">
                <ns2:creationId id="{A0EEB5FD-CAA9-4421-A3E4-18A81F0F40B7}"/>
              </a:ext>
            </a:extLst>
          </p:cNvPr>
          <p:cNvSpPr>
            <a:spLocks noGrp="1"/>
          </p:cNvSpPr>
          <p:nvPr/>
        </p:nvSpPr>
        <p:spPr>
          <a:xfrm>
            <a:off x="7791450" y="4114800"/>
            <a:ext cx="2714625" cy="457200"/>
          </a:xfrm>
          <a:prstGeom prst="rect">
            <a:avLst/>
          </a:prstGeom>
          <a:solidFill>
            <a:srgbClr val="F6DCA8"/>
          </a:solidFill>
          <a:ln w="12700">
            <a:noFill/>
          </a:ln>
        </p:spPr>
      </p:sp>
      <p:sp>
        <p:nvSpPr>
          <p:cNvPr id="112" name="kicker-01-label">
            <a:extLst>
              <a:ext uri="{FF2B5EF4-FFF2-40B4-BE49-F238E27FC236}">
                <ns2:creationId id="{2850DC58-7FF4-496B-A82A-2B4DA1571AC7}"/>
              </a:ext>
            </a:extLst>
          </p:cNvPr>
          <p:cNvSpPr>
            <a:spLocks noGrp="1"/>
          </p:cNvSpPr>
          <p:nvPr/>
        </p:nvSpPr>
        <p:spPr>
          <a:xfrm>
            <a:off x="7962900" y="4229100"/>
            <a:ext cx="237172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657184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101828"/>
                </a:solidFill>
              </a:rPr>
              <a:t>Create quest</a:t>
            </a:r>
          </a:p>
        </p:txBody>
      </p:sp>
      <p:sp>
        <p:nvSpPr>
          <p:cNvPr id="130" name="kicker-01-label">
            <a:extLst>
              <a:ext uri="{FF2B5EF4-FFF2-40B4-BE49-F238E27FC236}">
                <ns2:creationId id="{472F5E30-F99A-4D7B-A84E-CFEC9B56E194}"/>
              </a:ext>
            </a:extLst>
          </p:cNvPr>
          <p:cNvSpPr>
            <a:spLocks noGrp="1"/>
          </p:cNvSpPr>
          <p:nvPr/>
        </p:nvSpPr>
        <p:spPr>
          <a:xfrm>
            <a:off x="7791450" y="4860000"/>
            <a:ext cx="2714625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657184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6F7C91"/>
                </a:solidFill>
              </a:rPr>
              <a:t>Static analysis only. No default secrets required.</a:t>
            </a:r>
          </a:p>
        </p:txBody>
      </p:sp>
      <p:sp>
        <p:nvSpPr>
          <p:cNvPr id="131" name="kicker-01-label">
            <a:extLst>
              <a:ext uri="{FF2B5EF4-FFF2-40B4-BE49-F238E27FC236}">
                <ns2:creationId id="{AE81C01E-58A0-4433-8EDC-94963968BD63}"/>
              </a:ext>
            </a:extLst>
          </p:cNvPr>
          <p:cNvSpPr>
            <a:spLocks noGrp="1"/>
          </p:cNvSpPr>
          <p:nvPr/>
        </p:nvSpPr>
        <p:spPr>
          <a:xfrm>
            <a:off x="11106150" y="6362700"/>
            <a:ext cx="4572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657184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8A95A8"/>
                </a:solidFill>
              </a:rPr>
              <a:t>01</a:t>
            </a:r>
          </a:p>
        </p:txBody>
      </p:sp>
    </p:spTree>
    <p:extLst>
      <p:ext uri="{BB962C8B-B14F-4D97-AF65-F5344CB8AC3E}">
        <ns3:creationId val="1703828176"/>
      </p:ext>
    </p:extLst>
  </p:cSld>
</p:sld>
</file>

<file path=ppt/slides/slide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1" name="">
            <a:extLst>
              <a:ext uri="{FF2B5EF4-FFF2-40B4-BE49-F238E27FC236}">
                <ns2:creationId id="{4FB540BD-47DA-400B-94F2-C5A5FB580E8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2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2-marker">
            <a:extLst>
              <a:ext uri="{FF2B5EF4-FFF2-40B4-BE49-F238E27FC236}">
                <ns2:creationId id="{C7F8B57A-16F2-40E2-9A79-4D51195B43C6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95250" cy="95250"/>
          </a:xfrm>
          <a:prstGeom prst="rect">
            <a:avLst/>
          </a:prstGeom>
          <a:solidFill>
            <a:srgbClr val="C05A6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2-label">
            <a:extLst>
              <a:ext uri="{FF2B5EF4-FFF2-40B4-BE49-F238E27FC236}">
                <ns2:creationId id="{88C9F421-6C2F-4ED7-A26B-9BA175B0880B}"/>
              </a:ext>
            </a:extLst>
          </p:cNvPr>
          <p:cNvSpPr>
            <a:spLocks noGrp="1"/>
          </p:cNvSpPr>
          <p:nvPr/>
        </p:nvSpPr>
        <p:spPr>
          <a:xfrm>
            <a:off x="800100" y="381000"/>
            <a:ext cx="2857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657184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657184"/>
                </a:solidFill>
                <a:latin typeface="Avenir Next"/>
                <a:ea typeface="Avenir Next"/>
                <a:cs typeface="Avenir Next"/>
              </a:rPr>
              <a:t>PROBLEM</a:t>
            </a:r>
          </a:p>
        </p:txBody>
      </p:sp>
      <p:sp>
        <p:nvSpPr>
          <p:cNvPr id="4" name="">
            <a:extLst>
              <a:ext uri="{FF2B5EF4-FFF2-40B4-BE49-F238E27FC236}">
                <ns2:creationId id="{9A98B9CD-6F1C-4545-BEC6-D2B70C7CD38F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8191500" cy="1047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7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277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The first 30 minutes vanish into orientation work.</a:t>
            </a:r>
          </a:p>
        </p:txBody>
      </p:sp>
      <p:sp>
        <p:nvSpPr>
          <p:cNvPr id="5" name="">
            <a:extLst>
              <a:ext uri="{FF2B5EF4-FFF2-40B4-BE49-F238E27FC236}">
                <ns2:creationId id="{C116A8A6-E2EB-4FB5-9DB8-7E8E394B365F}"/>
              </a:ext>
            </a:extLst>
          </p:cNvPr>
          <p:cNvSpPr>
            <a:spLocks noGrp="1"/>
          </p:cNvSpPr>
          <p:nvPr/>
        </p:nvSpPr>
        <p:spPr>
          <a:xfrm>
            <a:off x="628650" y="1962150"/>
            <a:ext cx="59055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657184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657184"/>
                </a:solidFill>
                <a:latin typeface="Avenir Next"/>
                <a:ea typeface="Avenir Next"/>
                <a:cs typeface="Avenir Next"/>
              </a:rPr>
              <a:t>A new contributor has to infer the project type, entry points, routes, data models, tests, and architecture before making a useful change.</a:t>
            </a:r>
          </a:p>
        </p:txBody>
      </p:sp>
      <p:sp>
        <p:nvSpPr>
          <p:cNvPr id="6" name="">
            <a:extLst>
              <a:ext uri="{FF2B5EF4-FFF2-40B4-BE49-F238E27FC236}">
                <ns2:creationId id="{09D8AAFA-0A52-4F85-B91D-2B86E7E783DA}"/>
              </a:ext>
            </a:extLst>
          </p:cNvPr>
          <p:cNvSpPr>
            <a:spLocks noGrp="1"/>
          </p:cNvSpPr>
          <p:nvPr/>
        </p:nvSpPr>
        <p:spPr>
          <a:xfrm>
            <a:off x="800100" y="2886075"/>
            <a:ext cx="247650" cy="247650"/>
          </a:xfrm>
          <a:prstGeom prst="rect">
            <a:avLst/>
          </a:prstGeom>
          <a:solidFill>
            <a:srgbClr val="C05A6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>
              <a:ext uri="{FF2B5EF4-FFF2-40B4-BE49-F238E27FC236}">
                <ns2:creationId id="{B9D6800B-E9AA-48BB-9A5D-BE5CBA3B5D37}"/>
              </a:ext>
            </a:extLst>
          </p:cNvPr>
          <p:cNvSpPr>
            <a:spLocks noGrp="1"/>
          </p:cNvSpPr>
          <p:nvPr/>
        </p:nvSpPr>
        <p:spPr>
          <a:xfrm>
            <a:off x="847725" y="2933700"/>
            <a:ext cx="19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8" name="">
            <a:extLst>
              <a:ext uri="{FF2B5EF4-FFF2-40B4-BE49-F238E27FC236}">
                <ns2:creationId id="{5EAAD362-6768-43BF-9020-F99060B787FD}"/>
              </a:ext>
            </a:extLst>
          </p:cNvPr>
          <p:cNvSpPr>
            <a:spLocks noGrp="1"/>
          </p:cNvSpPr>
          <p:nvPr/>
        </p:nvSpPr>
        <p:spPr>
          <a:xfrm>
            <a:off x="914400" y="3143250"/>
            <a:ext cx="19050" cy="314325"/>
          </a:xfrm>
          <a:prstGeom prst="rect">
            <a:avLst/>
          </a:prstGeom>
          <a:solidFill>
            <a:srgbClr val="D9D0C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>
              <a:ext uri="{FF2B5EF4-FFF2-40B4-BE49-F238E27FC236}">
                <ns2:creationId id="{605DD2DC-C64E-4A8A-837A-0F7B21BF1BCB}"/>
              </a:ext>
            </a:extLst>
          </p:cNvPr>
          <p:cNvSpPr>
            <a:spLocks noGrp="1"/>
          </p:cNvSpPr>
          <p:nvPr/>
        </p:nvSpPr>
        <p:spPr>
          <a:xfrm>
            <a:off x="1257300" y="2724150"/>
            <a:ext cx="3143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Where do I start?</a:t>
            </a:r>
          </a:p>
        </p:txBody>
      </p:sp>
      <p:sp>
        <p:nvSpPr>
          <p:cNvPr id="10" name="">
            <a:extLst>
              <a:ext uri="{FF2B5EF4-FFF2-40B4-BE49-F238E27FC236}">
                <ns2:creationId id="{262AFC0D-C2CA-4FBD-A190-EAD4F95E5543}"/>
              </a:ext>
            </a:extLst>
          </p:cNvPr>
          <p:cNvSpPr>
            <a:spLocks noGrp="1"/>
          </p:cNvSpPr>
          <p:nvPr/>
        </p:nvSpPr>
        <p:spPr>
          <a:xfrm>
            <a:off x="1257300" y="3048000"/>
            <a:ext cx="4095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657184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657184"/>
                </a:solidFill>
                <a:latin typeface="Avenir Next"/>
                <a:ea typeface="Avenir Next"/>
                <a:cs typeface="Avenir Next"/>
              </a:rPr>
              <a:t>Random file browsing</a:t>
            </a:r>
          </a:p>
        </p:txBody>
      </p:sp>
      <p:sp>
        <p:nvSpPr>
          <p:cNvPr id="11" name="">
            <a:extLst>
              <a:ext uri="{FF2B5EF4-FFF2-40B4-BE49-F238E27FC236}">
                <ns2:creationId id="{7B5C8F7F-2614-4C78-8464-F3904DE63702}"/>
              </a:ext>
            </a:extLst>
          </p:cNvPr>
          <p:cNvSpPr>
            <a:spLocks noGrp="1"/>
          </p:cNvSpPr>
          <p:nvPr/>
        </p:nvSpPr>
        <p:spPr>
          <a:xfrm>
            <a:off x="800100" y="3629025"/>
            <a:ext cx="247650" cy="247650"/>
          </a:xfrm>
          <a:prstGeom prst="rect">
            <a:avLst/>
          </a:prstGeom>
          <a:solidFill>
            <a:srgbClr val="D890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>
              <a:ext uri="{FF2B5EF4-FFF2-40B4-BE49-F238E27FC236}">
                <ns2:creationId id="{14CE8C4C-C7FA-4621-BC46-EADA1D09867F}"/>
              </a:ext>
            </a:extLst>
          </p:cNvPr>
          <p:cNvSpPr>
            <a:spLocks noGrp="1"/>
          </p:cNvSpPr>
          <p:nvPr/>
        </p:nvSpPr>
        <p:spPr>
          <a:xfrm>
            <a:off x="847725" y="3676650"/>
            <a:ext cx="19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13" name="">
            <a:extLst>
              <a:ext uri="{FF2B5EF4-FFF2-40B4-BE49-F238E27FC236}">
                <ns2:creationId id="{E69FF3B3-75B1-4BBF-AC8E-9BBC7BF6623F}"/>
              </a:ext>
            </a:extLst>
          </p:cNvPr>
          <p:cNvSpPr>
            <a:spLocks noGrp="1"/>
          </p:cNvSpPr>
          <p:nvPr/>
        </p:nvSpPr>
        <p:spPr>
          <a:xfrm>
            <a:off x="914400" y="3886200"/>
            <a:ext cx="19050" cy="314325"/>
          </a:xfrm>
          <a:prstGeom prst="rect">
            <a:avLst/>
          </a:prstGeom>
          <a:solidFill>
            <a:srgbClr val="D9D0C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>
              <a:ext uri="{FF2B5EF4-FFF2-40B4-BE49-F238E27FC236}">
                <ns2:creationId id="{F32F1753-3E31-4529-87FB-1B28F977FB09}"/>
              </a:ext>
            </a:extLst>
          </p:cNvPr>
          <p:cNvSpPr>
            <a:spLocks noGrp="1"/>
          </p:cNvSpPr>
          <p:nvPr/>
        </p:nvSpPr>
        <p:spPr>
          <a:xfrm>
            <a:off x="1257300" y="3467100"/>
            <a:ext cx="3143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What kind of repo is this?</a:t>
            </a:r>
          </a:p>
        </p:txBody>
      </p:sp>
      <p:sp>
        <p:nvSpPr>
          <p:cNvPr id="15" name="">
            <a:extLst>
              <a:ext uri="{FF2B5EF4-FFF2-40B4-BE49-F238E27FC236}">
                <ns2:creationId id="{DE72C6CC-D565-4477-B649-106D9A2C23D4}"/>
              </a:ext>
            </a:extLst>
          </p:cNvPr>
          <p:cNvSpPr>
            <a:spLocks noGrp="1"/>
          </p:cNvSpPr>
          <p:nvPr/>
        </p:nvSpPr>
        <p:spPr>
          <a:xfrm>
            <a:off x="1257300" y="3790950"/>
            <a:ext cx="4095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657184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657184"/>
                </a:solidFill>
                <a:latin typeface="Avenir Next"/>
                <a:ea typeface="Avenir Next"/>
                <a:cs typeface="Avenir Next"/>
              </a:rPr>
              <a:t>Framework clues scattered across config and code</a:t>
            </a:r>
          </a:p>
        </p:txBody>
      </p:sp>
      <p:sp>
        <p:nvSpPr>
          <p:cNvPr id="16" name="">
            <a:extLst>
              <a:ext uri="{FF2B5EF4-FFF2-40B4-BE49-F238E27FC236}">
                <ns2:creationId id="{3FD58EA1-5D50-4DAF-930D-7D5F35CE1226}"/>
              </a:ext>
            </a:extLst>
          </p:cNvPr>
          <p:cNvSpPr>
            <a:spLocks noGrp="1"/>
          </p:cNvSpPr>
          <p:nvPr/>
        </p:nvSpPr>
        <p:spPr>
          <a:xfrm>
            <a:off x="800100" y="4371975"/>
            <a:ext cx="247650" cy="247650"/>
          </a:xfrm>
          <a:prstGeom prst="rect">
            <a:avLst/>
          </a:prstGeom>
          <a:solidFill>
            <a:srgbClr val="C05A6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>
              <a:ext uri="{FF2B5EF4-FFF2-40B4-BE49-F238E27FC236}">
                <ns2:creationId id="{12134E40-9135-49CF-A873-A04FF907CD14}"/>
              </a:ext>
            </a:extLst>
          </p:cNvPr>
          <p:cNvSpPr>
            <a:spLocks noGrp="1"/>
          </p:cNvSpPr>
          <p:nvPr/>
        </p:nvSpPr>
        <p:spPr>
          <a:xfrm>
            <a:off x="847725" y="4419600"/>
            <a:ext cx="19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18" name="">
            <a:extLst>
              <a:ext uri="{FF2B5EF4-FFF2-40B4-BE49-F238E27FC236}">
                <ns2:creationId id="{4D75F860-5622-492D-B32F-29C733BC9182}"/>
              </a:ext>
            </a:extLst>
          </p:cNvPr>
          <p:cNvSpPr>
            <a:spLocks noGrp="1"/>
          </p:cNvSpPr>
          <p:nvPr/>
        </p:nvSpPr>
        <p:spPr>
          <a:xfrm>
            <a:off x="914400" y="4629150"/>
            <a:ext cx="19050" cy="314325"/>
          </a:xfrm>
          <a:prstGeom prst="rect">
            <a:avLst/>
          </a:prstGeom>
          <a:solidFill>
            <a:srgbClr val="D9D0C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>
              <a:ext uri="{FF2B5EF4-FFF2-40B4-BE49-F238E27FC236}">
                <ns2:creationId id="{6AAA3A90-5386-4B96-B584-2B50400D95B9}"/>
              </a:ext>
            </a:extLst>
          </p:cNvPr>
          <p:cNvSpPr>
            <a:spLocks noGrp="1"/>
          </p:cNvSpPr>
          <p:nvPr/>
        </p:nvSpPr>
        <p:spPr>
          <a:xfrm>
            <a:off x="1257300" y="4210050"/>
            <a:ext cx="3143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What talks to what?</a:t>
            </a:r>
          </a:p>
        </p:txBody>
      </p:sp>
      <p:sp>
        <p:nvSpPr>
          <p:cNvPr id="20" name="">
            <a:extLst>
              <a:ext uri="{FF2B5EF4-FFF2-40B4-BE49-F238E27FC236}">
                <ns2:creationId id="{6B2B8992-E3F0-4EF3-9D1C-AA25E0D69BAC}"/>
              </a:ext>
            </a:extLst>
          </p:cNvPr>
          <p:cNvSpPr>
            <a:spLocks noGrp="1"/>
          </p:cNvSpPr>
          <p:nvPr/>
        </p:nvSpPr>
        <p:spPr>
          <a:xfrm>
            <a:off x="1257300" y="4533900"/>
            <a:ext cx="4095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657184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657184"/>
                </a:solidFill>
                <a:latin typeface="Avenir Next"/>
                <a:ea typeface="Avenir Next"/>
                <a:cs typeface="Avenir Next"/>
              </a:rPr>
              <a:t>Imports, routes, services, and tests are disconnected</a:t>
            </a:r>
          </a:p>
        </p:txBody>
      </p:sp>
      <p:sp>
        <p:nvSpPr>
          <p:cNvPr id="21" name="">
            <a:extLst>
              <a:ext uri="{FF2B5EF4-FFF2-40B4-BE49-F238E27FC236}">
                <ns2:creationId id="{E243C7B7-144B-4B96-8D72-122B2E742978}"/>
              </a:ext>
            </a:extLst>
          </p:cNvPr>
          <p:cNvSpPr>
            <a:spLocks noGrp="1"/>
          </p:cNvSpPr>
          <p:nvPr/>
        </p:nvSpPr>
        <p:spPr>
          <a:xfrm>
            <a:off x="800100" y="5114925"/>
            <a:ext cx="247650" cy="247650"/>
          </a:xfrm>
          <a:prstGeom prst="rect">
            <a:avLst/>
          </a:prstGeom>
          <a:solidFill>
            <a:srgbClr val="D890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>
              <a:ext uri="{FF2B5EF4-FFF2-40B4-BE49-F238E27FC236}">
                <ns2:creationId id="{6E3DF42C-5878-4AC3-91D4-968DFC9E55E8}"/>
              </a:ext>
            </a:extLst>
          </p:cNvPr>
          <p:cNvSpPr>
            <a:spLocks noGrp="1"/>
          </p:cNvSpPr>
          <p:nvPr/>
        </p:nvSpPr>
        <p:spPr>
          <a:xfrm>
            <a:off x="847725" y="5162550"/>
            <a:ext cx="19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  <p:sp>
        <p:nvSpPr>
          <p:cNvPr id="23" name="">
            <a:extLst>
              <a:ext uri="{FF2B5EF4-FFF2-40B4-BE49-F238E27FC236}">
                <ns2:creationId id="{01E51BDB-5F78-41F7-B5B3-7610CBA33A1A}"/>
              </a:ext>
            </a:extLst>
          </p:cNvPr>
          <p:cNvSpPr>
            <a:spLocks noGrp="1"/>
          </p:cNvSpPr>
          <p:nvPr/>
        </p:nvSpPr>
        <p:spPr>
          <a:xfrm>
            <a:off x="914400" y="5372100"/>
            <a:ext cx="19050" cy="314325"/>
          </a:xfrm>
          <a:prstGeom prst="rect">
            <a:avLst/>
          </a:prstGeom>
          <a:solidFill>
            <a:srgbClr val="D9D0C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>
              <a:ext uri="{FF2B5EF4-FFF2-40B4-BE49-F238E27FC236}">
                <ns2:creationId id="{F15869F8-9559-4C4B-9E8B-A4EA2F6A49BC}"/>
              </a:ext>
            </a:extLst>
          </p:cNvPr>
          <p:cNvSpPr>
            <a:spLocks noGrp="1"/>
          </p:cNvSpPr>
          <p:nvPr/>
        </p:nvSpPr>
        <p:spPr>
          <a:xfrm>
            <a:off x="1257300" y="4953000"/>
            <a:ext cx="3143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What should I read first?</a:t>
            </a:r>
          </a:p>
        </p:txBody>
      </p:sp>
      <p:sp>
        <p:nvSpPr>
          <p:cNvPr id="25" name="">
            <a:extLst>
              <a:ext uri="{FF2B5EF4-FFF2-40B4-BE49-F238E27FC236}">
                <ns2:creationId id="{1883F6A4-9AD2-4290-BEF9-7610D53789FD}"/>
              </a:ext>
            </a:extLst>
          </p:cNvPr>
          <p:cNvSpPr>
            <a:spLocks noGrp="1"/>
          </p:cNvSpPr>
          <p:nvPr/>
        </p:nvSpPr>
        <p:spPr>
          <a:xfrm>
            <a:off x="1257300" y="5276850"/>
            <a:ext cx="4095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657184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657184"/>
                </a:solidFill>
                <a:latin typeface="Avenir Next"/>
                <a:ea typeface="Avenir Next"/>
                <a:cs typeface="Avenir Next"/>
              </a:rPr>
              <a:t>No contributor path or defense questions</a:t>
            </a:r>
          </a:p>
        </p:txBody>
      </p:sp>
      <p:sp>
        <p:nvSpPr>
          <p:cNvPr id="26" name="">
            <a:extLst>
              <a:ext uri="{FF2B5EF4-FFF2-40B4-BE49-F238E27FC236}">
                <ns2:creationId id="{868F1F93-3B68-4F91-A108-415E74C64289}"/>
              </a:ext>
            </a:extLst>
          </p:cNvPr>
          <p:cNvSpPr>
            <a:spLocks noGrp="1"/>
          </p:cNvSpPr>
          <p:nvPr/>
        </p:nvSpPr>
        <p:spPr>
          <a:xfrm>
            <a:off x="7105650" y="1828800"/>
            <a:ext cx="3467100" cy="3124200"/>
          </a:xfrm>
          <a:prstGeom prst="rect">
            <a:avLst/>
          </a:prstGeom>
          <a:solidFill>
            <a:srgbClr val="101827"/>
          </a:solidFill>
          <a:ln w="9525">
            <a:solidFill>
              <a:srgbClr val="101827"/>
            </a:solidFill>
            <a:prstDash val="solid"/>
          </a:ln>
        </p:spPr>
      </p:sp>
      <p:sp>
        <p:nvSpPr>
          <p:cNvPr id="27" name="">
            <a:extLst>
              <a:ext uri="{FF2B5EF4-FFF2-40B4-BE49-F238E27FC236}">
                <ns2:creationId id="{C8C6F8C8-0BCB-4FE2-AC2B-F721C1582634}"/>
              </a:ext>
            </a:extLst>
          </p:cNvPr>
          <p:cNvSpPr>
            <a:spLocks noGrp="1"/>
          </p:cNvSpPr>
          <p:nvPr/>
        </p:nvSpPr>
        <p:spPr>
          <a:xfrm>
            <a:off x="7277100" y="1981200"/>
            <a:ext cx="31242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D8903A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D8903A"/>
                </a:solidFill>
                <a:latin typeface="Avenir Next"/>
                <a:ea typeface="Avenir Next"/>
                <a:cs typeface="Avenir Next"/>
              </a:rPr>
              <a:t>COST</a:t>
            </a:r>
          </a:p>
        </p:txBody>
      </p:sp>
      <p:sp>
        <p:nvSpPr>
          <p:cNvPr id="28" name="">
            <a:extLst>
              <a:ext uri="{FF2B5EF4-FFF2-40B4-BE49-F238E27FC236}">
                <ns2:creationId id="{F9C956B8-6E56-451C-9170-92D9625BEA4A}"/>
              </a:ext>
            </a:extLst>
          </p:cNvPr>
          <p:cNvSpPr>
            <a:spLocks noGrp="1"/>
          </p:cNvSpPr>
          <p:nvPr/>
        </p:nvSpPr>
        <p:spPr>
          <a:xfrm>
            <a:off x="7277100" y="2190750"/>
            <a:ext cx="31242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Onboarding debt repeats.</a:t>
            </a:r>
          </a:p>
        </p:txBody>
      </p:sp>
      <p:sp>
        <p:nvSpPr>
          <p:cNvPr id="29" name="">
            <a:extLst>
              <a:ext uri="{FF2B5EF4-FFF2-40B4-BE49-F238E27FC236}">
                <ns2:creationId id="{471233C2-6975-42C0-A275-B17A5A00CF7F}"/>
              </a:ext>
            </a:extLst>
          </p:cNvPr>
          <p:cNvSpPr>
            <a:spLocks noGrp="1"/>
          </p:cNvSpPr>
          <p:nvPr/>
        </p:nvSpPr>
        <p:spPr>
          <a:xfrm>
            <a:off x="7277100" y="2571750"/>
            <a:ext cx="3124200" cy="2228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C9D1DD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C9D1DD"/>
                </a:solidFill>
                <a:latin typeface="Avenir Next"/>
                <a:ea typeface="Avenir Next"/>
                <a:cs typeface="Avenir Next"/>
              </a:rPr>
              <a:t>Every new contributor asks about entry points, framework, architecture, tests, and next action. Generic chat can help, but it can also hallucinate or require setup.</a:t>
            </a:r>
          </a:p>
        </p:txBody>
      </p:sp>
      <p:sp>
        <p:nvSpPr>
          <p:cNvPr id="34" name="">
            <a:extLst>
              <a:ext uri="{FF2B5EF4-FFF2-40B4-BE49-F238E27FC236}">
                <ns2:creationId id="{58BC1ECA-B34C-47D9-B045-361E03EC80F3}"/>
              </a:ext>
            </a:extLst>
          </p:cNvPr>
          <p:cNvSpPr>
            <a:spLocks noGrp="1"/>
          </p:cNvSpPr>
          <p:nvPr/>
        </p:nvSpPr>
        <p:spPr>
          <a:xfrm>
            <a:off x="609600" y="6286500"/>
            <a:ext cx="9620250" cy="9525"/>
          </a:xfrm>
          <a:prstGeom prst="rect">
            <a:avLst/>
          </a:prstGeom>
          <a:solidFill>
            <a:srgbClr val="D9D0C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>
              <a:ext uri="{FF2B5EF4-FFF2-40B4-BE49-F238E27FC236}">
                <ns2:creationId id="{2F488FB4-B7CD-4356-A084-FA36CDD2ABC2}"/>
              </a:ext>
            </a:extLst>
          </p:cNvPr>
          <p:cNvSpPr>
            <a:spLocks noGrp="1"/>
          </p:cNvSpPr>
          <p:nvPr/>
        </p:nvSpPr>
        <p:spPr>
          <a:xfrm>
            <a:off x="11106150" y="6362700"/>
            <a:ext cx="4572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657184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657184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37" name="orientation-loop-label"/>
          <p:cNvSpPr>
            <a:spLocks noGrp="1"/>
          </p:cNvSpPr>
          <p:nvPr/>
        </p:nvSpPr>
        <p:spPr>
          <a:xfrm>
            <a:off x="7239000" y="5095875"/>
            <a:ext cx="31432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100" b="1">
                <a:solidFill>
                  <a:srgbClr val="657184"/>
                </a:solidFill>
                <a:latin typeface="Avenir Next"/>
                <a:ea typeface="Avenir Next"/>
                <a:cs typeface="Avenir Next"/>
              </a:defRPr>
            </a:pPr>
            <a:r>
              <a:rPr sz="1100" b="1">
                <a:solidFill>
                  <a:srgbClr val="657184"/>
                </a:solidFill>
                <a:latin typeface="Avenir Next"/>
                <a:ea typeface="Avenir Next"/>
                <a:cs typeface="Avenir Next"/>
              </a:rPr>
              <a:t>Orientation debt loop</a:t>
            </a:r>
          </a:p>
        </p:txBody>
      </p:sp>
      <p:sp>
        <p:nvSpPr>
          <p:cNvPr id="38" name="loop-box-search"/>
          <p:cNvSpPr>
            <a:spLocks noGrp="1"/>
          </p:cNvSpPr>
          <p:nvPr/>
        </p:nvSpPr>
        <p:spPr>
          <a:xfrm>
            <a:off x="7239000" y="5391150"/>
            <a:ext cx="952500" cy="361950"/>
          </a:xfrm>
          <a:prstGeom prst="rect">
            <a:avLst/>
          </a:prstGeom>
          <a:solidFill>
            <a:srgbClr val="C05A6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loop-text-search"/>
          <p:cNvSpPr>
            <a:spLocks noGrp="1"/>
          </p:cNvSpPr>
          <p:nvPr/>
        </p:nvSpPr>
        <p:spPr>
          <a:xfrm>
            <a:off x="7239000" y="5467350"/>
            <a:ext cx="952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Search</a:t>
            </a:r>
          </a:p>
        </p:txBody>
      </p:sp>
      <p:sp>
        <p:nvSpPr>
          <p:cNvPr id="40" name="loop-box-guess"/>
          <p:cNvSpPr>
            <a:spLocks noGrp="1"/>
          </p:cNvSpPr>
          <p:nvPr/>
        </p:nvSpPr>
        <p:spPr>
          <a:xfrm>
            <a:off x="8334375" y="5391150"/>
            <a:ext cx="952500" cy="361950"/>
          </a:xfrm>
          <a:prstGeom prst="rect">
            <a:avLst/>
          </a:prstGeom>
          <a:solidFill>
            <a:srgbClr val="D890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loop-text-guess"/>
          <p:cNvSpPr>
            <a:spLocks noGrp="1"/>
          </p:cNvSpPr>
          <p:nvPr/>
        </p:nvSpPr>
        <p:spPr>
          <a:xfrm>
            <a:off x="8334375" y="5467350"/>
            <a:ext cx="952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Guess</a:t>
            </a:r>
          </a:p>
        </p:txBody>
      </p:sp>
      <p:sp>
        <p:nvSpPr>
          <p:cNvPr id="42" name="loop-box-ask-again"/>
          <p:cNvSpPr>
            <a:spLocks noGrp="1"/>
          </p:cNvSpPr>
          <p:nvPr/>
        </p:nvSpPr>
        <p:spPr>
          <a:xfrm>
            <a:off x="9429750" y="5391150"/>
            <a:ext cx="952500" cy="361950"/>
          </a:xfrm>
          <a:prstGeom prst="rect">
            <a:avLst/>
          </a:prstGeom>
          <a:solidFill>
            <a:srgbClr val="3B6EA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loop-text-ask-again"/>
          <p:cNvSpPr>
            <a:spLocks noGrp="1"/>
          </p:cNvSpPr>
          <p:nvPr/>
        </p:nvSpPr>
        <p:spPr>
          <a:xfrm>
            <a:off x="9429750" y="5467350"/>
            <a:ext cx="952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Ask again</a:t>
            </a:r>
          </a:p>
        </p:txBody>
      </p:sp>
      <p:sp>
        <p:nvSpPr>
          <p:cNvPr id="44" name="loop-explanation"/>
          <p:cNvSpPr>
            <a:spLocks noGrp="1"/>
          </p:cNvSpPr>
          <p:nvPr/>
        </p:nvSpPr>
        <p:spPr>
          <a:xfrm>
            <a:off x="7239000" y="5905500"/>
            <a:ext cx="31432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00" b="0">
                <a:solidFill>
                  <a:srgbClr val="657184"/>
                </a:solidFill>
                <a:latin typeface="Avenir Next"/>
                <a:ea typeface="Avenir Next"/>
                <a:cs typeface="Avenir Next"/>
              </a:defRPr>
            </a:pPr>
            <a:r>
              <a:rPr sz="1000" b="0">
                <a:solidFill>
                  <a:srgbClr val="657184"/>
                </a:solidFill>
                <a:latin typeface="Avenir Next"/>
                <a:ea typeface="Avenir Next"/>
                <a:cs typeface="Avenir Next"/>
              </a:rPr>
              <a:t>The same orientation work repeats until the repo has a map.</a:t>
            </a:r>
          </a:p>
        </p:txBody>
      </p:sp>
    </p:spTree>
    <p:extLst>
      <p:ext uri="{BB962C8B-B14F-4D97-AF65-F5344CB8AC3E}">
        <ns3:creationId val="2125486948"/>
      </p:ext>
    </p:extLst>
  </p:cSld>
</p:sld>
</file>

<file path=ppt/slides/slide3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1" name="">
            <a:extLst>
              <a:ext uri="{FF2B5EF4-FFF2-40B4-BE49-F238E27FC236}">
                <ns2:creationId id="{C598F47B-9082-4FE6-826C-432C436EAFC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2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3-marker">
            <a:extLst>
              <a:ext uri="{FF2B5EF4-FFF2-40B4-BE49-F238E27FC236}">
                <ns2:creationId id="{C7A07025-68FF-47D6-985B-89B4122FB073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95250" cy="95250"/>
          </a:xfrm>
          <a:prstGeom prst="rect">
            <a:avLst/>
          </a:prstGeom>
          <a:solidFill>
            <a:srgbClr val="2BAE8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3-label">
            <a:extLst>
              <a:ext uri="{FF2B5EF4-FFF2-40B4-BE49-F238E27FC236}">
                <ns2:creationId id="{520FA360-E758-4BE6-819B-D72B4C80D048}"/>
              </a:ext>
            </a:extLst>
          </p:cNvPr>
          <p:cNvSpPr>
            <a:spLocks noGrp="1"/>
          </p:cNvSpPr>
          <p:nvPr/>
        </p:nvSpPr>
        <p:spPr>
          <a:xfrm>
            <a:off x="800100" y="381000"/>
            <a:ext cx="2857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657184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657184"/>
                </a:solidFill>
                <a:latin typeface="Avenir Next"/>
                <a:ea typeface="Avenir Next"/>
                <a:cs typeface="Avenir Next"/>
              </a:rPr>
              <a:t>SOLUTION</a:t>
            </a:r>
          </a:p>
        </p:txBody>
      </p:sp>
      <p:sp>
        <p:nvSpPr>
          <p:cNvPr id="4" name="">
            <a:extLst>
              <a:ext uri="{FF2B5EF4-FFF2-40B4-BE49-F238E27FC236}">
                <ns2:creationId id="{37E8C2DA-5E45-4F9D-BDE9-5849AB48914F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8858250" cy="1047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7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277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RepoQuest turns scattered repo structure into contributor-ready artifacts.</a:t>
            </a:r>
          </a:p>
        </p:txBody>
      </p:sp>
      <p:sp>
        <p:nvSpPr>
          <p:cNvPr id="5" name="">
            <a:extLst>
              <a:ext uri="{FF2B5EF4-FFF2-40B4-BE49-F238E27FC236}">
                <ns2:creationId id="{B088749C-3115-4065-9A2F-E51C7399DB66}"/>
              </a:ext>
            </a:extLst>
          </p:cNvPr>
          <p:cNvSpPr>
            <a:spLocks noGrp="1"/>
          </p:cNvSpPr>
          <p:nvPr/>
        </p:nvSpPr>
        <p:spPr>
          <a:xfrm>
            <a:off x="628650" y="1962150"/>
            <a:ext cx="72390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657184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657184"/>
                </a:solidFill>
                <a:latin typeface="Avenir Next"/>
                <a:ea typeface="Avenir Next"/>
                <a:cs typeface="Avenir Next"/>
              </a:rPr>
              <a:t>The app analyzes a bundled demo repo or uploaded ZIP, then outputs the concrete objects a developer needs to onboard.</a:t>
            </a:r>
          </a:p>
        </p:txBody>
      </p:sp>
      <p:sp>
        <p:nvSpPr>
          <p:cNvPr id="6" name="">
            <a:extLst>
              <a:ext uri="{FF2B5EF4-FFF2-40B4-BE49-F238E27FC236}">
                <ns2:creationId id="{F8016670-9042-4DFF-A5B1-359468426C52}"/>
              </a:ext>
            </a:extLst>
          </p:cNvPr>
          <p:cNvSpPr>
            <a:spLocks noGrp="1"/>
          </p:cNvSpPr>
          <p:nvPr/>
        </p:nvSpPr>
        <p:spPr>
          <a:xfrm>
            <a:off x="2324100" y="3400425"/>
            <a:ext cx="3771900" cy="19050"/>
          </a:xfrm>
          <a:prstGeom prst="rect">
            <a:avLst/>
          </a:prstGeom>
          <a:solidFill>
            <a:srgbClr val="D9D0C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>
              <a:ext uri="{FF2B5EF4-FFF2-40B4-BE49-F238E27FC236}">
                <ns2:creationId id="{E6182B10-A4D6-42CA-BB4C-E08D7CC1A271}"/>
              </a:ext>
            </a:extLst>
          </p:cNvPr>
          <p:cNvSpPr>
            <a:spLocks noGrp="1"/>
          </p:cNvSpPr>
          <p:nvPr/>
        </p:nvSpPr>
        <p:spPr>
          <a:xfrm>
            <a:off x="2743200" y="3400425"/>
            <a:ext cx="3352800" cy="19050"/>
          </a:xfrm>
          <a:prstGeom prst="rect">
            <a:avLst/>
          </a:prstGeom>
          <a:solidFill>
            <a:srgbClr val="D9D0C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>
              <a:ext uri="{FF2B5EF4-FFF2-40B4-BE49-F238E27FC236}">
                <ns2:creationId id="{A05C8CA0-4B10-45C9-B3CA-8C035D328575}"/>
              </a:ext>
            </a:extLst>
          </p:cNvPr>
          <p:cNvSpPr>
            <a:spLocks noGrp="1"/>
          </p:cNvSpPr>
          <p:nvPr/>
        </p:nvSpPr>
        <p:spPr>
          <a:xfrm>
            <a:off x="6086475" y="3409950"/>
            <a:ext cx="19050" cy="1847850"/>
          </a:xfrm>
          <a:prstGeom prst="rect">
            <a:avLst/>
          </a:prstGeom>
          <a:solidFill>
            <a:srgbClr val="D9D0C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>
              <a:ext uri="{FF2B5EF4-FFF2-40B4-BE49-F238E27FC236}">
                <ns2:creationId id="{D18D0F1C-E48B-4585-8815-E2C033BB80C1}"/>
              </a:ext>
            </a:extLst>
          </p:cNvPr>
          <p:cNvSpPr>
            <a:spLocks noGrp="1"/>
          </p:cNvSpPr>
          <p:nvPr/>
        </p:nvSpPr>
        <p:spPr>
          <a:xfrm>
            <a:off x="6096000" y="3400425"/>
            <a:ext cx="2914650" cy="19050"/>
          </a:xfrm>
          <a:prstGeom prst="rect">
            <a:avLst/>
          </a:prstGeom>
          <a:solidFill>
            <a:srgbClr val="D9D0C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>
              <a:ext uri="{FF2B5EF4-FFF2-40B4-BE49-F238E27FC236}">
                <ns2:creationId id="{A89A9735-BB5A-4842-B2AF-B0A04363BB4A}"/>
              </a:ext>
            </a:extLst>
          </p:cNvPr>
          <p:cNvSpPr>
            <a:spLocks noGrp="1"/>
          </p:cNvSpPr>
          <p:nvPr/>
        </p:nvSpPr>
        <p:spPr>
          <a:xfrm>
            <a:off x="6096000" y="3400425"/>
            <a:ext cx="3333750" cy="19050"/>
          </a:xfrm>
          <a:prstGeom prst="rect">
            <a:avLst/>
          </a:prstGeom>
          <a:solidFill>
            <a:srgbClr val="D9D0C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>
              <a:ext uri="{FF2B5EF4-FFF2-40B4-BE49-F238E27FC236}">
                <ns2:creationId id="{106774A7-B9E5-41EB-8328-73E62C44DDF7}"/>
              </a:ext>
            </a:extLst>
          </p:cNvPr>
          <p:cNvSpPr>
            <a:spLocks noGrp="1"/>
          </p:cNvSpPr>
          <p:nvPr/>
        </p:nvSpPr>
        <p:spPr>
          <a:xfrm>
            <a:off x="4743450" y="2781300"/>
            <a:ext cx="2705100" cy="1257300"/>
          </a:xfrm>
          <a:prstGeom prst="rect">
            <a:avLst/>
          </a:prstGeom>
          <a:solidFill>
            <a:srgbClr val="10182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>
              <a:ext uri="{FF2B5EF4-FFF2-40B4-BE49-F238E27FC236}">
                <ns2:creationId id="{16AF3B4E-C98A-4300-9A81-7E37E55AE57A}"/>
              </a:ext>
            </a:extLst>
          </p:cNvPr>
          <p:cNvSpPr>
            <a:spLocks noGrp="1"/>
          </p:cNvSpPr>
          <p:nvPr/>
        </p:nvSpPr>
        <p:spPr>
          <a:xfrm>
            <a:off x="5095875" y="3067050"/>
            <a:ext cx="20383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3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32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RepoQuest</a:t>
            </a:r>
          </a:p>
        </p:txBody>
      </p:sp>
      <p:sp>
        <p:nvSpPr>
          <p:cNvPr id="13" name="">
            <a:extLst>
              <a:ext uri="{FF2B5EF4-FFF2-40B4-BE49-F238E27FC236}">
                <ns2:creationId id="{4DFC8038-6053-45CF-83C0-1E34AF67CEE8}"/>
              </a:ext>
            </a:extLst>
          </p:cNvPr>
          <p:cNvSpPr>
            <a:spLocks noGrp="1"/>
          </p:cNvSpPr>
          <p:nvPr/>
        </p:nvSpPr>
        <p:spPr>
          <a:xfrm>
            <a:off x="5124450" y="3505200"/>
            <a:ext cx="2000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0">
                <a:solidFill>
                  <a:srgbClr val="B9C3D4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B9C3D4"/>
                </a:solidFill>
                <a:latin typeface="Avenir Next"/>
                <a:ea typeface="Avenir Next"/>
                <a:cs typeface="Avenir Next"/>
              </a:rPr>
              <a:t>static map + guided quest</a:t>
            </a:r>
          </a:p>
        </p:txBody>
      </p:sp>
      <p:sp>
        <p:nvSpPr>
          <p:cNvPr id="14" name="">
            <a:extLst>
              <a:ext uri="{FF2B5EF4-FFF2-40B4-BE49-F238E27FC236}">
                <ns2:creationId id="{B666405C-2268-4CD8-8B73-9686391D6DA0}"/>
              </a:ext>
            </a:extLst>
          </p:cNvPr>
          <p:cNvSpPr>
            <a:spLocks noGrp="1"/>
          </p:cNvSpPr>
          <p:nvPr/>
        </p:nvSpPr>
        <p:spPr>
          <a:xfrm>
            <a:off x="1181100" y="2476500"/>
            <a:ext cx="2286000" cy="723900"/>
          </a:xfrm>
          <a:prstGeom prst="rect">
            <a:avLst/>
          </a:prstGeom>
          <a:solidFill>
            <a:srgbClr val="DCE8F5"/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>
              <a:ext uri="{FF2B5EF4-FFF2-40B4-BE49-F238E27FC236}">
                <ns2:creationId id="{95512022-C41E-487B-B93D-519B2AE64A94}"/>
              </a:ext>
            </a:extLst>
          </p:cNvPr>
          <p:cNvSpPr>
            <a:spLocks noGrp="1"/>
          </p:cNvSpPr>
          <p:nvPr/>
        </p:nvSpPr>
        <p:spPr>
          <a:xfrm>
            <a:off x="1352550" y="2647950"/>
            <a:ext cx="19431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Fingerprint</a:t>
            </a:r>
          </a:p>
        </p:txBody>
      </p:sp>
      <p:sp>
        <p:nvSpPr>
          <p:cNvPr id="16" name="">
            <a:extLst>
              <a:ext uri="{FF2B5EF4-FFF2-40B4-BE49-F238E27FC236}">
                <ns2:creationId id="{A974CE19-590F-41F0-93D5-4509A3ECED4A}"/>
              </a:ext>
            </a:extLst>
          </p:cNvPr>
          <p:cNvSpPr>
            <a:spLocks noGrp="1"/>
          </p:cNvSpPr>
          <p:nvPr/>
        </p:nvSpPr>
        <p:spPr>
          <a:xfrm>
            <a:off x="1600200" y="4095750"/>
            <a:ext cx="2286000" cy="723900"/>
          </a:xfrm>
          <a:prstGeom prst="rect">
            <a:avLst/>
          </a:prstGeom>
          <a:solidFill>
            <a:srgbClr val="DDF3EB"/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>
              <a:ext uri="{FF2B5EF4-FFF2-40B4-BE49-F238E27FC236}">
                <ns2:creationId id="{AD6755C4-548B-4A51-91BC-262CDD015C8C}"/>
              </a:ext>
            </a:extLst>
          </p:cNvPr>
          <p:cNvSpPr>
            <a:spLocks noGrp="1"/>
          </p:cNvSpPr>
          <p:nvPr/>
        </p:nvSpPr>
        <p:spPr>
          <a:xfrm>
            <a:off x="1771650" y="4267200"/>
            <a:ext cx="19431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Architecture map</a:t>
            </a:r>
          </a:p>
        </p:txBody>
      </p:sp>
      <p:sp>
        <p:nvSpPr>
          <p:cNvPr id="18" name="">
            <a:extLst>
              <a:ext uri="{FF2B5EF4-FFF2-40B4-BE49-F238E27FC236}">
                <ns2:creationId id="{8C1C2E1E-8BC3-4202-BC30-A6F5318E0388}"/>
              </a:ext>
            </a:extLst>
          </p:cNvPr>
          <p:cNvSpPr>
            <a:spLocks noGrp="1"/>
          </p:cNvSpPr>
          <p:nvPr/>
        </p:nvSpPr>
        <p:spPr>
          <a:xfrm>
            <a:off x="4743450" y="4895850"/>
            <a:ext cx="2286000" cy="723900"/>
          </a:xfrm>
          <a:prstGeom prst="rect">
            <a:avLst/>
          </a:prstGeom>
          <a:solidFill>
            <a:srgbClr val="F4DFC1"/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>
              <a:ext uri="{FF2B5EF4-FFF2-40B4-BE49-F238E27FC236}">
                <ns2:creationId id="{CCD0B25C-09F8-49E8-B3F9-E876CE02E4B5}"/>
              </a:ext>
            </a:extLst>
          </p:cNvPr>
          <p:cNvSpPr>
            <a:spLocks noGrp="1"/>
          </p:cNvSpPr>
          <p:nvPr/>
        </p:nvSpPr>
        <p:spPr>
          <a:xfrm>
            <a:off x="4914900" y="5067300"/>
            <a:ext cx="19431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Reading path</a:t>
            </a:r>
          </a:p>
        </p:txBody>
      </p:sp>
      <p:sp>
        <p:nvSpPr>
          <p:cNvPr id="20" name="">
            <a:extLst>
              <a:ext uri="{FF2B5EF4-FFF2-40B4-BE49-F238E27FC236}">
                <ns2:creationId id="{18F3533E-95B2-4A0F-A0B6-1C296C99C0E2}"/>
              </a:ext>
            </a:extLst>
          </p:cNvPr>
          <p:cNvSpPr>
            <a:spLocks noGrp="1"/>
          </p:cNvSpPr>
          <p:nvPr/>
        </p:nvSpPr>
        <p:spPr>
          <a:xfrm>
            <a:off x="7867650" y="4095750"/>
            <a:ext cx="2286000" cy="723900"/>
          </a:xfrm>
          <a:prstGeom prst="rect">
            <a:avLst/>
          </a:prstGeom>
          <a:solidFill>
            <a:srgbClr val="DCE8F5"/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>
              <a:ext uri="{FF2B5EF4-FFF2-40B4-BE49-F238E27FC236}">
                <ns2:creationId id="{AD7BE9AE-A769-4123-A891-393F2BF3D4EF}"/>
              </a:ext>
            </a:extLst>
          </p:cNvPr>
          <p:cNvSpPr>
            <a:spLocks noGrp="1"/>
          </p:cNvSpPr>
          <p:nvPr/>
        </p:nvSpPr>
        <p:spPr>
          <a:xfrm>
            <a:off x="8039100" y="4267200"/>
            <a:ext cx="19431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Component cards</a:t>
            </a:r>
          </a:p>
        </p:txBody>
      </p:sp>
      <p:sp>
        <p:nvSpPr>
          <p:cNvPr id="22" name="">
            <a:extLst>
              <a:ext uri="{FF2B5EF4-FFF2-40B4-BE49-F238E27FC236}">
                <ns2:creationId id="{30A817A1-02B7-4CB2-99BE-9A0EABD0009D}"/>
              </a:ext>
            </a:extLst>
          </p:cNvPr>
          <p:cNvSpPr>
            <a:spLocks noGrp="1"/>
          </p:cNvSpPr>
          <p:nvPr/>
        </p:nvSpPr>
        <p:spPr>
          <a:xfrm>
            <a:off x="8286750" y="2476500"/>
            <a:ext cx="2286000" cy="723900"/>
          </a:xfrm>
          <a:prstGeom prst="rect">
            <a:avLst/>
          </a:prstGeom>
          <a:solidFill>
            <a:srgbClr val="F1D8DD"/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>
              <a:ext uri="{FF2B5EF4-FFF2-40B4-BE49-F238E27FC236}">
                <ns2:creationId id="{5963E843-3AAC-4E6D-A260-7B19F284CECE}"/>
              </a:ext>
            </a:extLst>
          </p:cNvPr>
          <p:cNvSpPr>
            <a:spLocks noGrp="1"/>
          </p:cNvSpPr>
          <p:nvPr/>
        </p:nvSpPr>
        <p:spPr>
          <a:xfrm>
            <a:off x="8458200" y="2647950"/>
            <a:ext cx="19431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Quiz + export</a:t>
            </a:r>
          </a:p>
        </p:txBody>
      </p:sp>
      <p:sp>
        <p:nvSpPr>
          <p:cNvPr id="24" name="">
            <a:extLst>
              <a:ext uri="{FF2B5EF4-FFF2-40B4-BE49-F238E27FC236}">
                <ns2:creationId id="{1E224D85-40D8-4485-84EA-69A704C173C0}"/>
              </a:ext>
            </a:extLst>
          </p:cNvPr>
          <p:cNvSpPr>
            <a:spLocks noGrp="1"/>
          </p:cNvSpPr>
          <p:nvPr/>
        </p:nvSpPr>
        <p:spPr>
          <a:xfrm>
            <a:off x="609600" y="6286500"/>
            <a:ext cx="9620250" cy="9525"/>
          </a:xfrm>
          <a:prstGeom prst="rect">
            <a:avLst/>
          </a:prstGeom>
          <a:solidFill>
            <a:srgbClr val="D9D0C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>
              <a:ext uri="{FF2B5EF4-FFF2-40B4-BE49-F238E27FC236}">
                <ns2:creationId id="{5FAA195D-3BE9-4630-8E4A-8A780277FC05}"/>
              </a:ext>
            </a:extLst>
          </p:cNvPr>
          <p:cNvSpPr>
            <a:spLocks noGrp="1"/>
          </p:cNvSpPr>
          <p:nvPr/>
        </p:nvSpPr>
        <p:spPr>
          <a:xfrm>
            <a:off x="11106150" y="6362700"/>
            <a:ext cx="4572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657184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657184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</p:spTree>
    <p:extLst>
      <p:ext uri="{BB962C8B-B14F-4D97-AF65-F5344CB8AC3E}">
        <ns3:creationId val="1976103901"/>
      </p:ext>
    </p:extLst>
  </p:cSld>
</p:sld>
</file>

<file path=ppt/slides/slide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1" name="">
            <a:extLst>
              <a:ext uri="{FF2B5EF4-FFF2-40B4-BE49-F238E27FC236}">
                <ns2:creationId id="{68C92A63-931A-43CF-9A09-5A9AA235CF0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82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4-marker">
            <a:extLst>
              <a:ext uri="{FF2B5EF4-FFF2-40B4-BE49-F238E27FC236}">
                <ns2:creationId id="{9D1A4E1C-8B43-4ADD-8052-2804ED796673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95250" cy="95250"/>
          </a:xfrm>
          <a:prstGeom prst="rect">
            <a:avLst/>
          </a:prstGeom>
          <a:solidFill>
            <a:srgbClr val="2BAE8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4-label">
            <a:extLst>
              <a:ext uri="{FF2B5EF4-FFF2-40B4-BE49-F238E27FC236}">
                <ns2:creationId id="{E922EFB2-CE28-4487-A012-3C4FF05CCB3C}"/>
              </a:ext>
            </a:extLst>
          </p:cNvPr>
          <p:cNvSpPr>
            <a:spLocks noGrp="1"/>
          </p:cNvSpPr>
          <p:nvPr/>
        </p:nvSpPr>
        <p:spPr>
          <a:xfrm>
            <a:off x="800100" y="381000"/>
            <a:ext cx="2857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AAB4C3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AAB4C3"/>
                </a:solidFill>
                <a:latin typeface="Avenir Next"/>
                <a:ea typeface="Avenir Next"/>
                <a:cs typeface="Avenir Next"/>
              </a:rPr>
              <a:t>PIPELINE</a:t>
            </a:r>
          </a:p>
        </p:txBody>
      </p:sp>
      <p:sp>
        <p:nvSpPr>
          <p:cNvPr id="4" name="">
            <a:extLst>
              <a:ext uri="{FF2B5EF4-FFF2-40B4-BE49-F238E27FC236}">
                <ns2:creationId id="{69DF5E30-2650-44C9-88DB-2958C4516A1A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8382000" cy="1047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7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Deterministic evidence comes first; interpretation comes after.</a:t>
            </a:r>
          </a:p>
        </p:txBody>
      </p:sp>
      <p:sp>
        <p:nvSpPr>
          <p:cNvPr id="5" name="">
            <a:extLst>
              <a:ext uri="{FF2B5EF4-FFF2-40B4-BE49-F238E27FC236}">
                <ns2:creationId id="{4C64FC9E-7311-441E-ADDB-50BD2B0ABC2F}"/>
              </a:ext>
            </a:extLst>
          </p:cNvPr>
          <p:cNvSpPr>
            <a:spLocks noGrp="1"/>
          </p:cNvSpPr>
          <p:nvPr/>
        </p:nvSpPr>
        <p:spPr>
          <a:xfrm>
            <a:off x="628650" y="1962150"/>
            <a:ext cx="7429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B9C3D4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B9C3D4"/>
                </a:solidFill>
                <a:latin typeface="Avenir Next"/>
                <a:ea typeface="Avenir Next"/>
                <a:cs typeface="Avenir Next"/>
              </a:rPr>
              <a:t>RepoQuest does not start with a chatbot. It builds a transparent evidence pack from static analysis, then turns it into onboarding artifacts.</a:t>
            </a:r>
          </a:p>
        </p:txBody>
      </p:sp>
      <p:sp>
        <p:nvSpPr>
          <p:cNvPr id="6" name="">
            <a:extLst>
              <a:ext uri="{FF2B5EF4-FFF2-40B4-BE49-F238E27FC236}">
                <ns2:creationId id="{777D6815-3051-4226-84D3-4443802DA14A}"/>
              </a:ext>
            </a:extLst>
          </p:cNvPr>
          <p:cNvSpPr>
            <a:spLocks noGrp="1"/>
          </p:cNvSpPr>
          <p:nvPr/>
        </p:nvSpPr>
        <p:spPr>
          <a:xfrm>
            <a:off x="647700" y="3067050"/>
            <a:ext cx="1428750" cy="1123950"/>
          </a:xfrm>
          <a:prstGeom prst="rect">
            <a:avLst/>
          </a:prstGeom>
          <a:solidFill>
            <a:srgbClr val="243149"/>
          </a:solidFill>
          <a:ln w="9525">
            <a:solidFill>
              <a:srgbClr val="3A455A"/>
            </a:solidFill>
            <a:prstDash val="solid"/>
          </a:ln>
        </p:spPr>
      </p:sp>
      <p:sp>
        <p:nvSpPr>
          <p:cNvPr id="7" name="">
            <a:extLst>
              <a:ext uri="{FF2B5EF4-FFF2-40B4-BE49-F238E27FC236}">
                <ns2:creationId id="{FCF08375-0779-4113-9FD8-61CCCB346571}"/>
              </a:ext>
            </a:extLst>
          </p:cNvPr>
          <p:cNvSpPr>
            <a:spLocks noGrp="1"/>
          </p:cNvSpPr>
          <p:nvPr/>
        </p:nvSpPr>
        <p:spPr>
          <a:xfrm>
            <a:off x="819150" y="3257550"/>
            <a:ext cx="266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D8903A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D8903A"/>
                </a:solidFill>
                <a:latin typeface="Avenir Next"/>
                <a:ea typeface="Avenir Next"/>
                <a:cs typeface="Avenir Next"/>
              </a:rPr>
              <a:t>1</a:t>
            </a:r>
          </a:p>
        </p:txBody>
      </p:sp>
      <p:sp>
        <p:nvSpPr>
          <p:cNvPr id="8" name="">
            <a:extLst>
              <a:ext uri="{FF2B5EF4-FFF2-40B4-BE49-F238E27FC236}">
                <ns2:creationId id="{ED48FDD6-59F6-4567-90AD-763873295602}"/>
              </a:ext>
            </a:extLst>
          </p:cNvPr>
          <p:cNvSpPr>
            <a:spLocks noGrp="1"/>
          </p:cNvSpPr>
          <p:nvPr/>
        </p:nvSpPr>
        <p:spPr>
          <a:xfrm>
            <a:off x="819150" y="3524250"/>
            <a:ext cx="1104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Safe scan</a:t>
            </a:r>
          </a:p>
        </p:txBody>
      </p:sp>
      <p:sp>
        <p:nvSpPr>
          <p:cNvPr id="9" name="">
            <a:extLst>
              <a:ext uri="{FF2B5EF4-FFF2-40B4-BE49-F238E27FC236}">
                <ns2:creationId id="{0CFBCA35-7FD0-4FE6-9B9B-B4072540F408}"/>
              </a:ext>
            </a:extLst>
          </p:cNvPr>
          <p:cNvSpPr>
            <a:spLocks noGrp="1"/>
          </p:cNvSpPr>
          <p:nvPr/>
        </p:nvSpPr>
        <p:spPr>
          <a:xfrm>
            <a:off x="819150" y="3848100"/>
            <a:ext cx="11049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B9C3D4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B9C3D4"/>
                </a:solidFill>
                <a:latin typeface="Avenir Next"/>
                <a:ea typeface="Avenir Next"/>
                <a:cs typeface="Avenir Next"/>
              </a:rPr>
              <a:t>file inventory</a:t>
            </a:r>
          </a:p>
        </p:txBody>
      </p:sp>
      <p:sp>
        <p:nvSpPr>
          <p:cNvPr id="10" name="">
            <a:extLst>
              <a:ext uri="{FF2B5EF4-FFF2-40B4-BE49-F238E27FC236}">
                <ns2:creationId id="{71030733-F2F3-45C3-AE9A-342B7C70236B}"/>
              </a:ext>
            </a:extLst>
          </p:cNvPr>
          <p:cNvSpPr>
            <a:spLocks noGrp="1"/>
          </p:cNvSpPr>
          <p:nvPr/>
        </p:nvSpPr>
        <p:spPr>
          <a:xfrm>
            <a:off x="2076450" y="3614738"/>
            <a:ext cx="381000" cy="28575"/>
          </a:xfrm>
          <a:prstGeom prst="rect">
            <a:avLst/>
          </a:prstGeom>
          <a:solidFill>
            <a:srgbClr val="D890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>
              <a:ext uri="{FF2B5EF4-FFF2-40B4-BE49-F238E27FC236}">
                <ns2:creationId id="{DE3A5D6A-682B-41B0-AC5F-9A465533C5C5}"/>
              </a:ext>
            </a:extLst>
          </p:cNvPr>
          <p:cNvSpPr>
            <a:spLocks noGrp="1"/>
          </p:cNvSpPr>
          <p:nvPr/>
        </p:nvSpPr>
        <p:spPr>
          <a:xfrm>
            <a:off x="2400300" y="3562350"/>
            <a:ext cx="114300" cy="133350"/>
          </a:xfrm>
          <a:prstGeom prst="rect">
            <a:avLst/>
          </a:prstGeom>
          <a:solidFill>
            <a:srgbClr val="D890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>
              <a:ext uri="{FF2B5EF4-FFF2-40B4-BE49-F238E27FC236}">
                <ns2:creationId id="{5AFFD0E8-3F63-4520-9EBC-E6F197D4A4D2}"/>
              </a:ext>
            </a:extLst>
          </p:cNvPr>
          <p:cNvSpPr>
            <a:spLocks noGrp="1"/>
          </p:cNvSpPr>
          <p:nvPr/>
        </p:nvSpPr>
        <p:spPr>
          <a:xfrm>
            <a:off x="2457450" y="3067050"/>
            <a:ext cx="1428750" cy="1123950"/>
          </a:xfrm>
          <a:prstGeom prst="rect">
            <a:avLst/>
          </a:prstGeom>
          <a:solidFill>
            <a:srgbClr val="202A3F"/>
          </a:solidFill>
          <a:ln w="9525">
            <a:solidFill>
              <a:srgbClr val="3A455A"/>
            </a:solidFill>
            <a:prstDash val="solid"/>
          </a:ln>
        </p:spPr>
      </p:sp>
      <p:sp>
        <p:nvSpPr>
          <p:cNvPr id="13" name="">
            <a:extLst>
              <a:ext uri="{FF2B5EF4-FFF2-40B4-BE49-F238E27FC236}">
                <ns2:creationId id="{B8561D15-4FA4-4349-B9C1-F669EB78725C}"/>
              </a:ext>
            </a:extLst>
          </p:cNvPr>
          <p:cNvSpPr>
            <a:spLocks noGrp="1"/>
          </p:cNvSpPr>
          <p:nvPr/>
        </p:nvSpPr>
        <p:spPr>
          <a:xfrm>
            <a:off x="2628900" y="3257550"/>
            <a:ext cx="266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D8903A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D8903A"/>
                </a:solidFill>
                <a:latin typeface="Avenir Next"/>
                <a:ea typeface="Avenir Next"/>
                <a:cs typeface="Avenir Next"/>
              </a:rPr>
              <a:t>2</a:t>
            </a:r>
          </a:p>
        </p:txBody>
      </p:sp>
      <p:sp>
        <p:nvSpPr>
          <p:cNvPr id="14" name="">
            <a:extLst>
              <a:ext uri="{FF2B5EF4-FFF2-40B4-BE49-F238E27FC236}">
                <ns2:creationId id="{FBB68FB4-D27E-444D-AA49-BD0FF868D617}"/>
              </a:ext>
            </a:extLst>
          </p:cNvPr>
          <p:cNvSpPr>
            <a:spLocks noGrp="1"/>
          </p:cNvSpPr>
          <p:nvPr/>
        </p:nvSpPr>
        <p:spPr>
          <a:xfrm>
            <a:off x="2628900" y="3524250"/>
            <a:ext cx="1104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Detect</a:t>
            </a:r>
          </a:p>
        </p:txBody>
      </p:sp>
      <p:sp>
        <p:nvSpPr>
          <p:cNvPr id="15" name="">
            <a:extLst>
              <a:ext uri="{FF2B5EF4-FFF2-40B4-BE49-F238E27FC236}">
                <ns2:creationId id="{319D3935-D779-4497-907B-428C635CCE2F}"/>
              </a:ext>
            </a:extLst>
          </p:cNvPr>
          <p:cNvSpPr>
            <a:spLocks noGrp="1"/>
          </p:cNvSpPr>
          <p:nvPr/>
        </p:nvSpPr>
        <p:spPr>
          <a:xfrm>
            <a:off x="2628900" y="3848100"/>
            <a:ext cx="11049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B9C3D4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B9C3D4"/>
                </a:solidFill>
                <a:latin typeface="Avenir Next"/>
                <a:ea typeface="Avenir Next"/>
                <a:cs typeface="Avenir Next"/>
              </a:rPr>
              <a:t>frameworks + roles</a:t>
            </a:r>
          </a:p>
        </p:txBody>
      </p:sp>
      <p:sp>
        <p:nvSpPr>
          <p:cNvPr id="16" name="">
            <a:extLst>
              <a:ext uri="{FF2B5EF4-FFF2-40B4-BE49-F238E27FC236}">
                <ns2:creationId id="{1F4A06B8-FA3F-4F5A-BFFB-833E9122C454}"/>
              </a:ext>
            </a:extLst>
          </p:cNvPr>
          <p:cNvSpPr>
            <a:spLocks noGrp="1"/>
          </p:cNvSpPr>
          <p:nvPr/>
        </p:nvSpPr>
        <p:spPr>
          <a:xfrm>
            <a:off x="3886200" y="3614738"/>
            <a:ext cx="381000" cy="28575"/>
          </a:xfrm>
          <a:prstGeom prst="rect">
            <a:avLst/>
          </a:prstGeom>
          <a:solidFill>
            <a:srgbClr val="D890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>
              <a:ext uri="{FF2B5EF4-FFF2-40B4-BE49-F238E27FC236}">
                <ns2:creationId id="{7D8A6A97-07BE-4896-8CAC-37CF5971D2C1}"/>
              </a:ext>
            </a:extLst>
          </p:cNvPr>
          <p:cNvSpPr>
            <a:spLocks noGrp="1"/>
          </p:cNvSpPr>
          <p:nvPr/>
        </p:nvSpPr>
        <p:spPr>
          <a:xfrm>
            <a:off x="4210050" y="3562350"/>
            <a:ext cx="114300" cy="133350"/>
          </a:xfrm>
          <a:prstGeom prst="rect">
            <a:avLst/>
          </a:prstGeom>
          <a:solidFill>
            <a:srgbClr val="D890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>
              <a:ext uri="{FF2B5EF4-FFF2-40B4-BE49-F238E27FC236}">
                <ns2:creationId id="{0DCAFE44-2EE6-4199-88AB-DA1AD8A903BF}"/>
              </a:ext>
            </a:extLst>
          </p:cNvPr>
          <p:cNvSpPr>
            <a:spLocks noGrp="1"/>
          </p:cNvSpPr>
          <p:nvPr/>
        </p:nvSpPr>
        <p:spPr>
          <a:xfrm>
            <a:off x="4267200" y="3067050"/>
            <a:ext cx="1428750" cy="1123950"/>
          </a:xfrm>
          <a:prstGeom prst="rect">
            <a:avLst/>
          </a:prstGeom>
          <a:solidFill>
            <a:srgbClr val="243149"/>
          </a:solidFill>
          <a:ln w="9525">
            <a:solidFill>
              <a:srgbClr val="3A455A"/>
            </a:solidFill>
            <a:prstDash val="solid"/>
          </a:ln>
        </p:spPr>
      </p:sp>
      <p:sp>
        <p:nvSpPr>
          <p:cNvPr id="19" name="">
            <a:extLst>
              <a:ext uri="{FF2B5EF4-FFF2-40B4-BE49-F238E27FC236}">
                <ns2:creationId id="{0AC03446-B8AE-4B6E-9DC2-FD5C72148172}"/>
              </a:ext>
            </a:extLst>
          </p:cNvPr>
          <p:cNvSpPr>
            <a:spLocks noGrp="1"/>
          </p:cNvSpPr>
          <p:nvPr/>
        </p:nvSpPr>
        <p:spPr>
          <a:xfrm>
            <a:off x="4438650" y="3257550"/>
            <a:ext cx="266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D8903A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D8903A"/>
                </a:solidFill>
                <a:latin typeface="Avenir Next"/>
                <a:ea typeface="Avenir Next"/>
                <a:cs typeface="Avenir Next"/>
              </a:rPr>
              <a:t>3</a:t>
            </a:r>
          </a:p>
        </p:txBody>
      </p:sp>
      <p:sp>
        <p:nvSpPr>
          <p:cNvPr id="20" name="">
            <a:extLst>
              <a:ext uri="{FF2B5EF4-FFF2-40B4-BE49-F238E27FC236}">
                <ns2:creationId id="{81764416-4D0E-4396-9C18-1A611195C95C}"/>
              </a:ext>
            </a:extLst>
          </p:cNvPr>
          <p:cNvSpPr>
            <a:spLocks noGrp="1"/>
          </p:cNvSpPr>
          <p:nvPr/>
        </p:nvSpPr>
        <p:spPr>
          <a:xfrm>
            <a:off x="4438650" y="3524250"/>
            <a:ext cx="1104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Extract</a:t>
            </a:r>
          </a:p>
        </p:txBody>
      </p:sp>
      <p:sp>
        <p:nvSpPr>
          <p:cNvPr id="21" name="">
            <a:extLst>
              <a:ext uri="{FF2B5EF4-FFF2-40B4-BE49-F238E27FC236}">
                <ns2:creationId id="{57D536E6-41F7-4D94-9956-2DD3F5EF5139}"/>
              </a:ext>
            </a:extLst>
          </p:cNvPr>
          <p:cNvSpPr>
            <a:spLocks noGrp="1"/>
          </p:cNvSpPr>
          <p:nvPr/>
        </p:nvSpPr>
        <p:spPr>
          <a:xfrm>
            <a:off x="4438650" y="3848100"/>
            <a:ext cx="11049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B9C3D4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B9C3D4"/>
                </a:solidFill>
                <a:latin typeface="Avenir Next"/>
                <a:ea typeface="Avenir Next"/>
                <a:cs typeface="Avenir Next"/>
              </a:rPr>
              <a:t>routes + imports</a:t>
            </a:r>
          </a:p>
        </p:txBody>
      </p:sp>
      <p:sp>
        <p:nvSpPr>
          <p:cNvPr id="22" name="">
            <a:extLst>
              <a:ext uri="{FF2B5EF4-FFF2-40B4-BE49-F238E27FC236}">
                <ns2:creationId id="{8C91AE3E-DC09-4DD2-9A7C-6A4B0B88A073}"/>
              </a:ext>
            </a:extLst>
          </p:cNvPr>
          <p:cNvSpPr>
            <a:spLocks noGrp="1"/>
          </p:cNvSpPr>
          <p:nvPr/>
        </p:nvSpPr>
        <p:spPr>
          <a:xfrm>
            <a:off x="5695950" y="3614738"/>
            <a:ext cx="381000" cy="28575"/>
          </a:xfrm>
          <a:prstGeom prst="rect">
            <a:avLst/>
          </a:prstGeom>
          <a:solidFill>
            <a:srgbClr val="D890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>
              <a:ext uri="{FF2B5EF4-FFF2-40B4-BE49-F238E27FC236}">
                <ns2:creationId id="{09CC312D-1CE1-42B3-B3BA-3A0209A16842}"/>
              </a:ext>
            </a:extLst>
          </p:cNvPr>
          <p:cNvSpPr>
            <a:spLocks noGrp="1"/>
          </p:cNvSpPr>
          <p:nvPr/>
        </p:nvSpPr>
        <p:spPr>
          <a:xfrm>
            <a:off x="6019800" y="3562350"/>
            <a:ext cx="114300" cy="133350"/>
          </a:xfrm>
          <a:prstGeom prst="rect">
            <a:avLst/>
          </a:prstGeom>
          <a:solidFill>
            <a:srgbClr val="D890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>
              <a:ext uri="{FF2B5EF4-FFF2-40B4-BE49-F238E27FC236}">
                <ns2:creationId id="{3D5CD3A9-0444-40C7-94F5-3F5659ECF095}"/>
              </a:ext>
            </a:extLst>
          </p:cNvPr>
          <p:cNvSpPr>
            <a:spLocks noGrp="1"/>
          </p:cNvSpPr>
          <p:nvPr/>
        </p:nvSpPr>
        <p:spPr>
          <a:xfrm>
            <a:off x="6076950" y="3067050"/>
            <a:ext cx="1428750" cy="1123950"/>
          </a:xfrm>
          <a:prstGeom prst="rect">
            <a:avLst/>
          </a:prstGeom>
          <a:solidFill>
            <a:srgbClr val="202A3F"/>
          </a:solidFill>
          <a:ln w="9525">
            <a:solidFill>
              <a:srgbClr val="3A455A"/>
            </a:solidFill>
            <a:prstDash val="solid"/>
          </a:ln>
        </p:spPr>
      </p:sp>
      <p:sp>
        <p:nvSpPr>
          <p:cNvPr id="25" name="">
            <a:extLst>
              <a:ext uri="{FF2B5EF4-FFF2-40B4-BE49-F238E27FC236}">
                <ns2:creationId id="{A79121B5-2B7C-4937-AAC4-E686893E164F}"/>
              </a:ext>
            </a:extLst>
          </p:cNvPr>
          <p:cNvSpPr>
            <a:spLocks noGrp="1"/>
          </p:cNvSpPr>
          <p:nvPr/>
        </p:nvSpPr>
        <p:spPr>
          <a:xfrm>
            <a:off x="6248400" y="3257550"/>
            <a:ext cx="266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D8903A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D8903A"/>
                </a:solidFill>
                <a:latin typeface="Avenir Next"/>
                <a:ea typeface="Avenir Next"/>
                <a:cs typeface="Avenir Next"/>
              </a:rPr>
              <a:t>4</a:t>
            </a:r>
          </a:p>
        </p:txBody>
      </p:sp>
      <p:sp>
        <p:nvSpPr>
          <p:cNvPr id="26" name="">
            <a:extLst>
              <a:ext uri="{FF2B5EF4-FFF2-40B4-BE49-F238E27FC236}">
                <ns2:creationId id="{42C6E907-17BB-45E1-B4F5-9E3DCA30E1B6}"/>
              </a:ext>
            </a:extLst>
          </p:cNvPr>
          <p:cNvSpPr>
            <a:spLocks noGrp="1"/>
          </p:cNvSpPr>
          <p:nvPr/>
        </p:nvSpPr>
        <p:spPr>
          <a:xfrm>
            <a:off x="6248400" y="3524250"/>
            <a:ext cx="1104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Map</a:t>
            </a:r>
          </a:p>
        </p:txBody>
      </p:sp>
      <p:sp>
        <p:nvSpPr>
          <p:cNvPr id="27" name="">
            <a:extLst>
              <a:ext uri="{FF2B5EF4-FFF2-40B4-BE49-F238E27FC236}">
                <ns2:creationId id="{C22DF7FF-6F83-4545-8C82-50F73CB93F03}"/>
              </a:ext>
            </a:extLst>
          </p:cNvPr>
          <p:cNvSpPr>
            <a:spLocks noGrp="1"/>
          </p:cNvSpPr>
          <p:nvPr/>
        </p:nvSpPr>
        <p:spPr>
          <a:xfrm>
            <a:off x="6248400" y="3848100"/>
            <a:ext cx="11049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B9C3D4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B9C3D4"/>
                </a:solidFill>
                <a:latin typeface="Avenir Next"/>
                <a:ea typeface="Avenir Next"/>
                <a:cs typeface="Avenir Next"/>
              </a:rPr>
              <a:t>architecture graph</a:t>
            </a:r>
          </a:p>
        </p:txBody>
      </p:sp>
      <p:sp>
        <p:nvSpPr>
          <p:cNvPr id="28" name="">
            <a:extLst>
              <a:ext uri="{FF2B5EF4-FFF2-40B4-BE49-F238E27FC236}">
                <ns2:creationId id="{0F31A7B0-A608-41F3-BF0D-FBCC998B6647}"/>
              </a:ext>
            </a:extLst>
          </p:cNvPr>
          <p:cNvSpPr>
            <a:spLocks noGrp="1"/>
          </p:cNvSpPr>
          <p:nvPr/>
        </p:nvSpPr>
        <p:spPr>
          <a:xfrm>
            <a:off x="7505700" y="3614738"/>
            <a:ext cx="381000" cy="28575"/>
          </a:xfrm>
          <a:prstGeom prst="rect">
            <a:avLst/>
          </a:prstGeom>
          <a:solidFill>
            <a:srgbClr val="D890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>
              <a:ext uri="{FF2B5EF4-FFF2-40B4-BE49-F238E27FC236}">
                <ns2:creationId id="{1E7CC0C5-5E03-4958-A585-36655D36E9D1}"/>
              </a:ext>
            </a:extLst>
          </p:cNvPr>
          <p:cNvSpPr>
            <a:spLocks noGrp="1"/>
          </p:cNvSpPr>
          <p:nvPr/>
        </p:nvSpPr>
        <p:spPr>
          <a:xfrm>
            <a:off x="7829550" y="3562350"/>
            <a:ext cx="114300" cy="133350"/>
          </a:xfrm>
          <a:prstGeom prst="rect">
            <a:avLst/>
          </a:prstGeom>
          <a:solidFill>
            <a:srgbClr val="D890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>
              <a:ext uri="{FF2B5EF4-FFF2-40B4-BE49-F238E27FC236}">
                <ns2:creationId id="{C5FC6379-2D2E-4858-9603-104F887F8B49}"/>
              </a:ext>
            </a:extLst>
          </p:cNvPr>
          <p:cNvSpPr>
            <a:spLocks noGrp="1"/>
          </p:cNvSpPr>
          <p:nvPr/>
        </p:nvSpPr>
        <p:spPr>
          <a:xfrm>
            <a:off x="7886700" y="3067050"/>
            <a:ext cx="1428750" cy="1123950"/>
          </a:xfrm>
          <a:prstGeom prst="rect">
            <a:avLst/>
          </a:prstGeom>
          <a:solidFill>
            <a:srgbClr val="243149"/>
          </a:solidFill>
          <a:ln w="9525">
            <a:solidFill>
              <a:srgbClr val="3A455A"/>
            </a:solidFill>
            <a:prstDash val="solid"/>
          </a:ln>
        </p:spPr>
      </p:sp>
      <p:sp>
        <p:nvSpPr>
          <p:cNvPr id="31" name="">
            <a:extLst>
              <a:ext uri="{FF2B5EF4-FFF2-40B4-BE49-F238E27FC236}">
                <ns2:creationId id="{ECB1FC93-F905-4E82-915F-9595F46A54A4}"/>
              </a:ext>
            </a:extLst>
          </p:cNvPr>
          <p:cNvSpPr>
            <a:spLocks noGrp="1"/>
          </p:cNvSpPr>
          <p:nvPr/>
        </p:nvSpPr>
        <p:spPr>
          <a:xfrm>
            <a:off x="8058150" y="3257550"/>
            <a:ext cx="266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D8903A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D8903A"/>
                </a:solidFill>
                <a:latin typeface="Avenir Next"/>
                <a:ea typeface="Avenir Next"/>
                <a:cs typeface="Avenir Next"/>
              </a:rPr>
              <a:t>5</a:t>
            </a:r>
          </a:p>
        </p:txBody>
      </p:sp>
      <p:sp>
        <p:nvSpPr>
          <p:cNvPr id="32" name="">
            <a:extLst>
              <a:ext uri="{FF2B5EF4-FFF2-40B4-BE49-F238E27FC236}">
                <ns2:creationId id="{08DFBED4-479F-4A5A-8396-A781F29CCEAA}"/>
              </a:ext>
            </a:extLst>
          </p:cNvPr>
          <p:cNvSpPr>
            <a:spLocks noGrp="1"/>
          </p:cNvSpPr>
          <p:nvPr/>
        </p:nvSpPr>
        <p:spPr>
          <a:xfrm>
            <a:off x="8058150" y="3524250"/>
            <a:ext cx="1104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Quest</a:t>
            </a:r>
          </a:p>
        </p:txBody>
      </p:sp>
      <p:sp>
        <p:nvSpPr>
          <p:cNvPr id="33" name="">
            <a:extLst>
              <a:ext uri="{FF2B5EF4-FFF2-40B4-BE49-F238E27FC236}">
                <ns2:creationId id="{AF9E9691-C153-4CEB-99C4-75F601FBB719}"/>
              </a:ext>
            </a:extLst>
          </p:cNvPr>
          <p:cNvSpPr>
            <a:spLocks noGrp="1"/>
          </p:cNvSpPr>
          <p:nvPr/>
        </p:nvSpPr>
        <p:spPr>
          <a:xfrm>
            <a:off x="8058150" y="3848100"/>
            <a:ext cx="11049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B9C3D4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B9C3D4"/>
                </a:solidFill>
                <a:latin typeface="Avenir Next"/>
                <a:ea typeface="Avenir Next"/>
                <a:cs typeface="Avenir Next"/>
              </a:rPr>
              <a:t>path + cards + quiz</a:t>
            </a:r>
          </a:p>
        </p:txBody>
      </p:sp>
      <p:sp>
        <p:nvSpPr>
          <p:cNvPr id="34" name="">
            <a:extLst>
              <a:ext uri="{FF2B5EF4-FFF2-40B4-BE49-F238E27FC236}">
                <ns2:creationId id="{66A8CC3B-57E4-4B57-964D-21EC6D478413}"/>
              </a:ext>
            </a:extLst>
          </p:cNvPr>
          <p:cNvSpPr>
            <a:spLocks noGrp="1"/>
          </p:cNvSpPr>
          <p:nvPr/>
        </p:nvSpPr>
        <p:spPr>
          <a:xfrm>
            <a:off x="9315450" y="3614738"/>
            <a:ext cx="381000" cy="28575"/>
          </a:xfrm>
          <a:prstGeom prst="rect">
            <a:avLst/>
          </a:prstGeom>
          <a:solidFill>
            <a:srgbClr val="D890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>
              <a:ext uri="{FF2B5EF4-FFF2-40B4-BE49-F238E27FC236}">
                <ns2:creationId id="{D3801095-F939-484F-86A1-2F21DFC5260D}"/>
              </a:ext>
            </a:extLst>
          </p:cNvPr>
          <p:cNvSpPr>
            <a:spLocks noGrp="1"/>
          </p:cNvSpPr>
          <p:nvPr/>
        </p:nvSpPr>
        <p:spPr>
          <a:xfrm>
            <a:off x="9639300" y="3562350"/>
            <a:ext cx="114300" cy="133350"/>
          </a:xfrm>
          <a:prstGeom prst="rect">
            <a:avLst/>
          </a:prstGeom>
          <a:solidFill>
            <a:srgbClr val="D890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>
              <a:ext uri="{FF2B5EF4-FFF2-40B4-BE49-F238E27FC236}">
                <ns2:creationId id="{91901543-E262-4D4B-9447-57F9B4A5AF5E}"/>
              </a:ext>
            </a:extLst>
          </p:cNvPr>
          <p:cNvSpPr>
            <a:spLocks noGrp="1"/>
          </p:cNvSpPr>
          <p:nvPr/>
        </p:nvSpPr>
        <p:spPr>
          <a:xfrm>
            <a:off x="9696450" y="3067050"/>
            <a:ext cx="1428750" cy="1123950"/>
          </a:xfrm>
          <a:prstGeom prst="rect">
            <a:avLst/>
          </a:prstGeom>
          <a:solidFill>
            <a:srgbClr val="202A3F"/>
          </a:solidFill>
          <a:ln w="9525">
            <a:solidFill>
              <a:srgbClr val="3A455A"/>
            </a:solidFill>
            <a:prstDash val="solid"/>
          </a:ln>
        </p:spPr>
      </p:sp>
      <p:sp>
        <p:nvSpPr>
          <p:cNvPr id="37" name="">
            <a:extLst>
              <a:ext uri="{FF2B5EF4-FFF2-40B4-BE49-F238E27FC236}">
                <ns2:creationId id="{717E36A6-5BF7-4E23-BB78-FA3C895D8BB9}"/>
              </a:ext>
            </a:extLst>
          </p:cNvPr>
          <p:cNvSpPr>
            <a:spLocks noGrp="1"/>
          </p:cNvSpPr>
          <p:nvPr/>
        </p:nvSpPr>
        <p:spPr>
          <a:xfrm>
            <a:off x="9867900" y="3257550"/>
            <a:ext cx="266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D8903A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D8903A"/>
                </a:solidFill>
                <a:latin typeface="Avenir Next"/>
                <a:ea typeface="Avenir Next"/>
                <a:cs typeface="Avenir Next"/>
              </a:rPr>
              <a:t>6</a:t>
            </a:r>
          </a:p>
        </p:txBody>
      </p:sp>
      <p:sp>
        <p:nvSpPr>
          <p:cNvPr id="38" name="">
            <a:extLst>
              <a:ext uri="{FF2B5EF4-FFF2-40B4-BE49-F238E27FC236}">
                <ns2:creationId id="{77A0CA90-17CF-491C-880B-8561B68E6AB0}"/>
              </a:ext>
            </a:extLst>
          </p:cNvPr>
          <p:cNvSpPr>
            <a:spLocks noGrp="1"/>
          </p:cNvSpPr>
          <p:nvPr/>
        </p:nvSpPr>
        <p:spPr>
          <a:xfrm>
            <a:off x="9867900" y="3524250"/>
            <a:ext cx="1104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Export</a:t>
            </a:r>
          </a:p>
        </p:txBody>
      </p:sp>
      <p:sp>
        <p:nvSpPr>
          <p:cNvPr id="39" name="">
            <a:extLst>
              <a:ext uri="{FF2B5EF4-FFF2-40B4-BE49-F238E27FC236}">
                <ns2:creationId id="{4D348F67-9F47-43BF-88F2-4BE301AFFF07}"/>
              </a:ext>
            </a:extLst>
          </p:cNvPr>
          <p:cNvSpPr>
            <a:spLocks noGrp="1"/>
          </p:cNvSpPr>
          <p:nvPr/>
        </p:nvSpPr>
        <p:spPr>
          <a:xfrm>
            <a:off x="9867900" y="3848100"/>
            <a:ext cx="11049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B9C3D4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B9C3D4"/>
                </a:solidFill>
                <a:latin typeface="Avenir Next"/>
                <a:ea typeface="Avenir Next"/>
                <a:cs typeface="Avenir Next"/>
              </a:rPr>
              <a:t>Markdown guide</a:t>
            </a:r>
          </a:p>
        </p:txBody>
      </p:sp>
      <p:sp>
        <p:nvSpPr>
          <p:cNvPr id="40" name="">
            <a:extLst>
              <a:ext uri="{FF2B5EF4-FFF2-40B4-BE49-F238E27FC236}">
                <ns2:creationId id="{00C69BDE-571D-48EC-B5FC-9FE51C3C1C1A}"/>
              </a:ext>
            </a:extLst>
          </p:cNvPr>
          <p:cNvSpPr>
            <a:spLocks noGrp="1"/>
          </p:cNvSpPr>
          <p:nvPr/>
        </p:nvSpPr>
        <p:spPr>
          <a:xfrm>
            <a:off x="704850" y="4933950"/>
            <a:ext cx="5048250" cy="590550"/>
          </a:xfrm>
          <a:prstGeom prst="rect">
            <a:avLst/>
          </a:prstGeom>
          <a:solidFill>
            <a:srgbClr val="203B34"/>
          </a:solidFill>
          <a:ln w="9525">
            <a:solidFill>
              <a:srgbClr val="2BAE8A"/>
            </a:solidFill>
            <a:prstDash val="solid"/>
          </a:ln>
        </p:spPr>
      </p:sp>
      <p:sp>
        <p:nvSpPr>
          <p:cNvPr id="41" name="">
            <a:extLst>
              <a:ext uri="{FF2B5EF4-FFF2-40B4-BE49-F238E27FC236}">
                <ns2:creationId id="{3F70A893-B227-4B14-8E7C-F82FD28E9F39}"/>
              </a:ext>
            </a:extLst>
          </p:cNvPr>
          <p:cNvSpPr>
            <a:spLocks noGrp="1"/>
          </p:cNvSpPr>
          <p:nvPr/>
        </p:nvSpPr>
        <p:spPr>
          <a:xfrm>
            <a:off x="914400" y="5048250"/>
            <a:ext cx="46291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D8F2E9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D8F2E9"/>
                </a:solidFill>
                <a:latin typeface="Avenir Next"/>
                <a:ea typeface="Avenir Next"/>
                <a:cs typeface="Avenir Next"/>
              </a:rPr>
              <a:t>Hard facts stay authoritative: scanned files, skipped files, routes, imports, graph data, and ZIP safety warnings.</a:t>
            </a:r>
          </a:p>
        </p:txBody>
      </p:sp>
      <p:sp>
        <p:nvSpPr>
          <p:cNvPr id="42" name="">
            <a:extLst>
              <a:ext uri="{FF2B5EF4-FFF2-40B4-BE49-F238E27FC236}">
                <ns2:creationId id="{30766A4F-9C8D-4935-B67F-8530D6BA1068}"/>
              </a:ext>
            </a:extLst>
          </p:cNvPr>
          <p:cNvSpPr>
            <a:spLocks noGrp="1"/>
          </p:cNvSpPr>
          <p:nvPr/>
        </p:nvSpPr>
        <p:spPr>
          <a:xfrm>
            <a:off x="6438900" y="4933950"/>
            <a:ext cx="4095750" cy="590550"/>
          </a:xfrm>
          <a:prstGeom prst="rect">
            <a:avLst/>
          </a:prstGeom>
          <a:solidFill>
            <a:srgbClr val="382E1F"/>
          </a:solidFill>
          <a:ln w="9525">
            <a:solidFill>
              <a:srgbClr val="D8903A"/>
            </a:solidFill>
            <a:prstDash val="solid"/>
          </a:ln>
        </p:spPr>
      </p:sp>
      <p:sp>
        <p:nvSpPr>
          <p:cNvPr id="43" name="">
            <a:extLst>
              <a:ext uri="{FF2B5EF4-FFF2-40B4-BE49-F238E27FC236}">
                <ns2:creationId id="{AB5A9BB3-E44B-4E68-AC46-C55128836D92}"/>
              </a:ext>
            </a:extLst>
          </p:cNvPr>
          <p:cNvSpPr>
            <a:spLocks noGrp="1"/>
          </p:cNvSpPr>
          <p:nvPr/>
        </p:nvSpPr>
        <p:spPr>
          <a:xfrm>
            <a:off x="6648450" y="5048250"/>
            <a:ext cx="36766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F5E5CB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F5E5CB"/>
                </a:solidFill>
                <a:latin typeface="Avenir Next"/>
                <a:ea typeface="Avenir Next"/>
                <a:cs typeface="Avenir Next"/>
              </a:rPr>
              <a:t>Optional AI Fusion can improve summaries and rankings only after citing scanned evidence.</a:t>
            </a:r>
          </a:p>
        </p:txBody>
      </p:sp>
      <p:sp>
        <p:nvSpPr>
          <p:cNvPr id="44" name="">
            <a:extLst>
              <a:ext uri="{FF2B5EF4-FFF2-40B4-BE49-F238E27FC236}">
                <ns2:creationId id="{574F7AD5-35D8-42B4-BE50-9781E1612ED7}"/>
              </a:ext>
            </a:extLst>
          </p:cNvPr>
          <p:cNvSpPr>
            <a:spLocks noGrp="1"/>
          </p:cNvSpPr>
          <p:nvPr/>
        </p:nvSpPr>
        <p:spPr>
          <a:xfrm>
            <a:off x="609600" y="6286500"/>
            <a:ext cx="9620250" cy="9525"/>
          </a:xfrm>
          <a:prstGeom prst="rect">
            <a:avLst/>
          </a:prstGeom>
          <a:solidFill>
            <a:srgbClr val="D9D0C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>
              <a:ext uri="{FF2B5EF4-FFF2-40B4-BE49-F238E27FC236}">
                <ns2:creationId id="{129A8966-FDE4-427E-BE86-9E7D73C5EA03}"/>
              </a:ext>
            </a:extLst>
          </p:cNvPr>
          <p:cNvSpPr>
            <a:spLocks noGrp="1"/>
          </p:cNvSpPr>
          <p:nvPr/>
        </p:nvSpPr>
        <p:spPr>
          <a:xfrm>
            <a:off x="11106150" y="6362700"/>
            <a:ext cx="4572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657184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657184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</p:spTree>
    <p:extLst>
      <p:ext uri="{BB962C8B-B14F-4D97-AF65-F5344CB8AC3E}">
        <ns3:creationId val="136306694"/>
      </p:ext>
    </p:extLst>
  </p:cSld>
</p:sld>
</file>

<file path=ppt/slides/slide5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1" name="">
            <a:extLst>
              <a:ext uri="{FF2B5EF4-FFF2-40B4-BE49-F238E27FC236}">
                <ns2:creationId id="{4CE3909E-9B98-47A0-B22C-3814272A714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2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5-marker">
            <a:extLst>
              <a:ext uri="{FF2B5EF4-FFF2-40B4-BE49-F238E27FC236}">
                <ns2:creationId id="{5E454363-68BF-49CA-8C7E-E957E67D17A2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95250" cy="95250"/>
          </a:xfrm>
          <a:prstGeom prst="rect">
            <a:avLst/>
          </a:prstGeom>
          <a:solidFill>
            <a:srgbClr val="3B6EA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5-label">
            <a:extLst>
              <a:ext uri="{FF2B5EF4-FFF2-40B4-BE49-F238E27FC236}">
                <ns2:creationId id="{3E5B9C62-A349-4F7E-A8BA-A6EBF30783E1}"/>
              </a:ext>
            </a:extLst>
          </p:cNvPr>
          <p:cNvSpPr>
            <a:spLocks noGrp="1"/>
          </p:cNvSpPr>
          <p:nvPr/>
        </p:nvSpPr>
        <p:spPr>
          <a:xfrm>
            <a:off x="800100" y="381000"/>
            <a:ext cx="2857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657184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657184"/>
                </a:solidFill>
                <a:latin typeface="Avenir Next"/>
                <a:ea typeface="Avenir Next"/>
                <a:cs typeface="Avenir Next"/>
              </a:rPr>
              <a:t>SAFETY</a:t>
            </a:r>
          </a:p>
        </p:txBody>
      </p:sp>
      <p:sp>
        <p:nvSpPr>
          <p:cNvPr id="4" name="">
            <a:extLst>
              <a:ext uri="{FF2B5EF4-FFF2-40B4-BE49-F238E27FC236}">
                <ns2:creationId id="{9A552F6E-2F45-4D86-B6A4-484DF951B699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8953500" cy="1047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7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277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Safety is built into the scanner, not bolted on after upload.</a:t>
            </a:r>
          </a:p>
        </p:txBody>
      </p:sp>
      <p:sp>
        <p:nvSpPr>
          <p:cNvPr id="5" name="">
            <a:extLst>
              <a:ext uri="{FF2B5EF4-FFF2-40B4-BE49-F238E27FC236}">
                <ns2:creationId id="{219A4BEF-0E6B-4122-8406-22A327AFE625}"/>
              </a:ext>
            </a:extLst>
          </p:cNvPr>
          <p:cNvSpPr>
            <a:spLocks noGrp="1"/>
          </p:cNvSpPr>
          <p:nvPr/>
        </p:nvSpPr>
        <p:spPr>
          <a:xfrm>
            <a:off x="628650" y="1962150"/>
            <a:ext cx="72390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657184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657184"/>
                </a:solidFill>
                <a:latin typeface="Avenir Next"/>
                <a:ea typeface="Avenir Next"/>
                <a:cs typeface="Avenir Next"/>
              </a:rPr>
              <a:t>The default demo requires no credentials. Uploaded ZIPs are scanned defensively and never executed.</a:t>
            </a:r>
          </a:p>
        </p:txBody>
      </p:sp>
      <p:sp>
        <p:nvSpPr>
          <p:cNvPr id="6" name="">
            <a:extLst>
              <a:ext uri="{FF2B5EF4-FFF2-40B4-BE49-F238E27FC236}">
                <ns2:creationId id="{07FB7B7F-1425-40B6-AD2E-3C7B3C014623}"/>
              </a:ext>
            </a:extLst>
          </p:cNvPr>
          <p:cNvSpPr>
            <a:spLocks noGrp="1"/>
          </p:cNvSpPr>
          <p:nvPr/>
        </p:nvSpPr>
        <p:spPr>
          <a:xfrm>
            <a:off x="628650" y="2514600"/>
            <a:ext cx="10287000" cy="495300"/>
          </a:xfrm>
          <a:prstGeom prst="rect">
            <a:avLst/>
          </a:prstGeom>
          <a:solidFill>
            <a:srgbClr val="10182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>
              <a:ext uri="{FF2B5EF4-FFF2-40B4-BE49-F238E27FC236}">
                <ns2:creationId id="{A079AA94-E50E-4B72-BB29-C436772AD919}"/>
              </a:ext>
            </a:extLst>
          </p:cNvPr>
          <p:cNvSpPr>
            <a:spLocks noGrp="1"/>
          </p:cNvSpPr>
          <p:nvPr/>
        </p:nvSpPr>
        <p:spPr>
          <a:xfrm>
            <a:off x="876300" y="2667000"/>
            <a:ext cx="1714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Protection</a:t>
            </a:r>
          </a:p>
        </p:txBody>
      </p:sp>
      <p:sp>
        <p:nvSpPr>
          <p:cNvPr id="8" name="">
            <a:extLst>
              <a:ext uri="{FF2B5EF4-FFF2-40B4-BE49-F238E27FC236}">
                <ns2:creationId id="{B816EE5D-59C8-4A9C-9BAC-97CA3E9DD986}"/>
              </a:ext>
            </a:extLst>
          </p:cNvPr>
          <p:cNvSpPr>
            <a:spLocks noGrp="1"/>
          </p:cNvSpPr>
          <p:nvPr/>
        </p:nvSpPr>
        <p:spPr>
          <a:xfrm>
            <a:off x="3371850" y="2667000"/>
            <a:ext cx="3238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What RepoQuest does</a:t>
            </a:r>
          </a:p>
        </p:txBody>
      </p:sp>
      <p:sp>
        <p:nvSpPr>
          <p:cNvPr id="9" name="">
            <a:extLst>
              <a:ext uri="{FF2B5EF4-FFF2-40B4-BE49-F238E27FC236}">
                <ns2:creationId id="{B63FDCEA-5228-4298-8E07-68AC5E11DD3E}"/>
              </a:ext>
            </a:extLst>
          </p:cNvPr>
          <p:cNvSpPr>
            <a:spLocks noGrp="1"/>
          </p:cNvSpPr>
          <p:nvPr/>
        </p:nvSpPr>
        <p:spPr>
          <a:xfrm>
            <a:off x="8020050" y="2667000"/>
            <a:ext cx="2095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Why it matters</a:t>
            </a:r>
          </a:p>
        </p:txBody>
      </p:sp>
      <p:sp>
        <p:nvSpPr>
          <p:cNvPr id="10" name="">
            <a:extLst>
              <a:ext uri="{FF2B5EF4-FFF2-40B4-BE49-F238E27FC236}">
                <ns2:creationId id="{E56BB3A2-39EC-4359-B6CD-B84C17F00B5C}"/>
              </a:ext>
            </a:extLst>
          </p:cNvPr>
          <p:cNvSpPr>
            <a:spLocks noGrp="1"/>
          </p:cNvSpPr>
          <p:nvPr/>
        </p:nvSpPr>
        <p:spPr>
          <a:xfrm>
            <a:off x="628650" y="3009900"/>
            <a:ext cx="10287000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0C3"/>
            </a:solidFill>
            <a:prstDash val="solid"/>
          </a:ln>
        </p:spPr>
      </p:sp>
      <p:sp>
        <p:nvSpPr>
          <p:cNvPr id="11" name="">
            <a:extLst>
              <a:ext uri="{FF2B5EF4-FFF2-40B4-BE49-F238E27FC236}">
                <ns2:creationId id="{1A8EF834-DAEF-412A-BE02-78F553CC8102}"/>
              </a:ext>
            </a:extLst>
          </p:cNvPr>
          <p:cNvSpPr>
            <a:spLocks noGrp="1"/>
          </p:cNvSpPr>
          <p:nvPr/>
        </p:nvSpPr>
        <p:spPr>
          <a:xfrm>
            <a:off x="876300" y="3152775"/>
            <a:ext cx="209550" cy="209550"/>
          </a:xfrm>
          <a:prstGeom prst="rect">
            <a:avLst/>
          </a:prstGeom>
          <a:solidFill>
            <a:srgbClr val="DDF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>
              <a:ext uri="{FF2B5EF4-FFF2-40B4-BE49-F238E27FC236}">
                <ns2:creationId id="{810E0CBC-11CD-4093-A78A-D257CC07410E}"/>
              </a:ext>
            </a:extLst>
          </p:cNvPr>
          <p:cNvSpPr>
            <a:spLocks noGrp="1"/>
          </p:cNvSpPr>
          <p:nvPr/>
        </p:nvSpPr>
        <p:spPr>
          <a:xfrm>
            <a:off x="1219200" y="3143250"/>
            <a:ext cx="1714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No execution</a:t>
            </a:r>
          </a:p>
        </p:txBody>
      </p:sp>
      <p:sp>
        <p:nvSpPr>
          <p:cNvPr id="13" name="">
            <a:extLst>
              <a:ext uri="{FF2B5EF4-FFF2-40B4-BE49-F238E27FC236}">
                <ns2:creationId id="{9308D4DA-DAEE-4339-A24C-82F56E97F24C}"/>
              </a:ext>
            </a:extLst>
          </p:cNvPr>
          <p:cNvSpPr>
            <a:spLocks noGrp="1"/>
          </p:cNvSpPr>
          <p:nvPr/>
        </p:nvSpPr>
        <p:spPr>
          <a:xfrm>
            <a:off x="3371850" y="3143250"/>
            <a:ext cx="3905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57184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657184"/>
                </a:solidFill>
                <a:latin typeface="Avenir Next"/>
                <a:ea typeface="Avenir Next"/>
                <a:cs typeface="Avenir Next"/>
              </a:rPr>
              <a:t>Never runs uploaded scripts or imports uploaded modules</a:t>
            </a:r>
          </a:p>
        </p:txBody>
      </p:sp>
      <p:sp>
        <p:nvSpPr>
          <p:cNvPr id="14" name="">
            <a:extLst>
              <a:ext uri="{FF2B5EF4-FFF2-40B4-BE49-F238E27FC236}">
                <ns2:creationId id="{2519F02E-7455-485E-9C2A-DC57F8A1423A}"/>
              </a:ext>
            </a:extLst>
          </p:cNvPr>
          <p:cNvSpPr>
            <a:spLocks noGrp="1"/>
          </p:cNvSpPr>
          <p:nvPr/>
        </p:nvSpPr>
        <p:spPr>
          <a:xfrm>
            <a:off x="8020050" y="3143250"/>
            <a:ext cx="2381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57184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657184"/>
                </a:solidFill>
                <a:latin typeface="Avenir Next"/>
                <a:ea typeface="Avenir Next"/>
                <a:cs typeface="Avenir Next"/>
              </a:rPr>
              <a:t>safe by default</a:t>
            </a:r>
          </a:p>
        </p:txBody>
      </p:sp>
      <p:sp>
        <p:nvSpPr>
          <p:cNvPr id="15" name="">
            <a:extLst>
              <a:ext uri="{FF2B5EF4-FFF2-40B4-BE49-F238E27FC236}">
                <ns2:creationId id="{181915BA-5205-47E4-8D77-171BE18C0FA5}"/>
              </a:ext>
            </a:extLst>
          </p:cNvPr>
          <p:cNvSpPr>
            <a:spLocks noGrp="1"/>
          </p:cNvSpPr>
          <p:nvPr/>
        </p:nvSpPr>
        <p:spPr>
          <a:xfrm>
            <a:off x="628650" y="3562350"/>
            <a:ext cx="10287000" cy="495300"/>
          </a:xfrm>
          <a:prstGeom prst="rect">
            <a:avLst/>
          </a:prstGeom>
          <a:solidFill>
            <a:srgbClr val="FBF8F1"/>
          </a:solidFill>
          <a:ln w="9525">
            <a:solidFill>
              <a:srgbClr val="D9D0C3"/>
            </a:solidFill>
            <a:prstDash val="solid"/>
          </a:ln>
        </p:spPr>
      </p:sp>
      <p:sp>
        <p:nvSpPr>
          <p:cNvPr id="16" name="">
            <a:extLst>
              <a:ext uri="{FF2B5EF4-FFF2-40B4-BE49-F238E27FC236}">
                <ns2:creationId id="{CBE6ECBA-AFC5-4C01-A2AD-4EEFCDA0A13B}"/>
              </a:ext>
            </a:extLst>
          </p:cNvPr>
          <p:cNvSpPr>
            <a:spLocks noGrp="1"/>
          </p:cNvSpPr>
          <p:nvPr/>
        </p:nvSpPr>
        <p:spPr>
          <a:xfrm>
            <a:off x="876300" y="3705225"/>
            <a:ext cx="209550" cy="209550"/>
          </a:xfrm>
          <a:prstGeom prst="rect">
            <a:avLst/>
          </a:prstGeom>
          <a:solidFill>
            <a:srgbClr val="DCE8F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>
              <a:ext uri="{FF2B5EF4-FFF2-40B4-BE49-F238E27FC236}">
                <ns2:creationId id="{1002CFA6-B770-469E-9F7A-8A288CB5E449}"/>
              </a:ext>
            </a:extLst>
          </p:cNvPr>
          <p:cNvSpPr>
            <a:spLocks noGrp="1"/>
          </p:cNvSpPr>
          <p:nvPr/>
        </p:nvSpPr>
        <p:spPr>
          <a:xfrm>
            <a:off x="1219200" y="3695700"/>
            <a:ext cx="1714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No install</a:t>
            </a:r>
          </a:p>
        </p:txBody>
      </p:sp>
      <p:sp>
        <p:nvSpPr>
          <p:cNvPr id="18" name="">
            <a:extLst>
              <a:ext uri="{FF2B5EF4-FFF2-40B4-BE49-F238E27FC236}">
                <ns2:creationId id="{47BE459B-A772-4FD9-8AC9-915AAD3951F5}"/>
              </a:ext>
            </a:extLst>
          </p:cNvPr>
          <p:cNvSpPr>
            <a:spLocks noGrp="1"/>
          </p:cNvSpPr>
          <p:nvPr/>
        </p:nvSpPr>
        <p:spPr>
          <a:xfrm>
            <a:off x="3371850" y="3695700"/>
            <a:ext cx="3905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57184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657184"/>
                </a:solidFill>
                <a:latin typeface="Avenir Next"/>
                <a:ea typeface="Avenir Next"/>
                <a:cs typeface="Avenir Next"/>
              </a:rPr>
              <a:t>Never installs dependencies from the uploaded repo</a:t>
            </a:r>
          </a:p>
        </p:txBody>
      </p:sp>
      <p:sp>
        <p:nvSpPr>
          <p:cNvPr id="19" name="">
            <a:extLst>
              <a:ext uri="{FF2B5EF4-FFF2-40B4-BE49-F238E27FC236}">
                <ns2:creationId id="{AB95E7F3-8848-49C7-A7A2-1A7546121072}"/>
              </a:ext>
            </a:extLst>
          </p:cNvPr>
          <p:cNvSpPr>
            <a:spLocks noGrp="1"/>
          </p:cNvSpPr>
          <p:nvPr/>
        </p:nvSpPr>
        <p:spPr>
          <a:xfrm>
            <a:off x="8020050" y="3695700"/>
            <a:ext cx="2381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57184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657184"/>
                </a:solidFill>
                <a:latin typeface="Avenir Next"/>
                <a:ea typeface="Avenir Next"/>
                <a:cs typeface="Avenir Next"/>
              </a:rPr>
              <a:t>safe by default</a:t>
            </a:r>
          </a:p>
        </p:txBody>
      </p:sp>
      <p:sp>
        <p:nvSpPr>
          <p:cNvPr id="20" name="">
            <a:extLst>
              <a:ext uri="{FF2B5EF4-FFF2-40B4-BE49-F238E27FC236}">
                <ns2:creationId id="{198CF735-F95C-4362-9E47-B6938366405B}"/>
              </a:ext>
            </a:extLst>
          </p:cNvPr>
          <p:cNvSpPr>
            <a:spLocks noGrp="1"/>
          </p:cNvSpPr>
          <p:nvPr/>
        </p:nvSpPr>
        <p:spPr>
          <a:xfrm>
            <a:off x="628650" y="4114800"/>
            <a:ext cx="10287000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0C3"/>
            </a:solidFill>
            <a:prstDash val="solid"/>
          </a:ln>
        </p:spPr>
      </p:sp>
      <p:sp>
        <p:nvSpPr>
          <p:cNvPr id="21" name="">
            <a:extLst>
              <a:ext uri="{FF2B5EF4-FFF2-40B4-BE49-F238E27FC236}">
                <ns2:creationId id="{ACAD4A25-8F92-4F51-B85A-95B0FD867BB5}"/>
              </a:ext>
            </a:extLst>
          </p:cNvPr>
          <p:cNvSpPr>
            <a:spLocks noGrp="1"/>
          </p:cNvSpPr>
          <p:nvPr/>
        </p:nvSpPr>
        <p:spPr>
          <a:xfrm>
            <a:off x="876300" y="4257675"/>
            <a:ext cx="209550" cy="209550"/>
          </a:xfrm>
          <a:prstGeom prst="rect">
            <a:avLst/>
          </a:prstGeom>
          <a:solidFill>
            <a:srgbClr val="F1D8D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>
              <a:ext uri="{FF2B5EF4-FFF2-40B4-BE49-F238E27FC236}">
                <ns2:creationId id="{F3A4179C-E662-4D0D-B142-CEA4F8A68D12}"/>
              </a:ext>
            </a:extLst>
          </p:cNvPr>
          <p:cNvSpPr>
            <a:spLocks noGrp="1"/>
          </p:cNvSpPr>
          <p:nvPr/>
        </p:nvSpPr>
        <p:spPr>
          <a:xfrm>
            <a:off x="1219200" y="4248150"/>
            <a:ext cx="1714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ZIP slip checks</a:t>
            </a:r>
          </a:p>
        </p:txBody>
      </p:sp>
      <p:sp>
        <p:nvSpPr>
          <p:cNvPr id="23" name="">
            <a:extLst>
              <a:ext uri="{FF2B5EF4-FFF2-40B4-BE49-F238E27FC236}">
                <ns2:creationId id="{5291A749-D3EE-4043-8082-6E051D449E47}"/>
              </a:ext>
            </a:extLst>
          </p:cNvPr>
          <p:cNvSpPr>
            <a:spLocks noGrp="1"/>
          </p:cNvSpPr>
          <p:nvPr/>
        </p:nvSpPr>
        <p:spPr>
          <a:xfrm>
            <a:off x="3371850" y="4248150"/>
            <a:ext cx="3905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57184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657184"/>
                </a:solidFill>
                <a:latin typeface="Avenir Next"/>
                <a:ea typeface="Avenir Next"/>
                <a:cs typeface="Avenir Next"/>
              </a:rPr>
              <a:t>Rejects absolute paths and path traversal attempts</a:t>
            </a:r>
          </a:p>
        </p:txBody>
      </p:sp>
      <p:sp>
        <p:nvSpPr>
          <p:cNvPr id="24" name="">
            <a:extLst>
              <a:ext uri="{FF2B5EF4-FFF2-40B4-BE49-F238E27FC236}">
                <ns2:creationId id="{07110F6E-7D9C-4CDC-A0EB-75B713131AB7}"/>
              </a:ext>
            </a:extLst>
          </p:cNvPr>
          <p:cNvSpPr>
            <a:spLocks noGrp="1"/>
          </p:cNvSpPr>
          <p:nvPr/>
        </p:nvSpPr>
        <p:spPr>
          <a:xfrm>
            <a:off x="8020050" y="4248150"/>
            <a:ext cx="2381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57184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657184"/>
                </a:solidFill>
                <a:latin typeface="Avenir Next"/>
                <a:ea typeface="Avenir Next"/>
                <a:cs typeface="Avenir Next"/>
              </a:rPr>
              <a:t>bad files do not crash the flow</a:t>
            </a:r>
          </a:p>
        </p:txBody>
      </p:sp>
      <p:sp>
        <p:nvSpPr>
          <p:cNvPr id="25" name="">
            <a:extLst>
              <a:ext uri="{FF2B5EF4-FFF2-40B4-BE49-F238E27FC236}">
                <ns2:creationId id="{85ADD317-831E-4525-97F7-A30DF0EE3515}"/>
              </a:ext>
            </a:extLst>
          </p:cNvPr>
          <p:cNvSpPr>
            <a:spLocks noGrp="1"/>
          </p:cNvSpPr>
          <p:nvPr/>
        </p:nvSpPr>
        <p:spPr>
          <a:xfrm>
            <a:off x="628650" y="4667250"/>
            <a:ext cx="10287000" cy="495300"/>
          </a:xfrm>
          <a:prstGeom prst="rect">
            <a:avLst/>
          </a:prstGeom>
          <a:solidFill>
            <a:srgbClr val="FBF8F1"/>
          </a:solidFill>
          <a:ln w="9525">
            <a:solidFill>
              <a:srgbClr val="D9D0C3"/>
            </a:solidFill>
            <a:prstDash val="solid"/>
          </a:ln>
        </p:spPr>
      </p:sp>
      <p:sp>
        <p:nvSpPr>
          <p:cNvPr id="26" name="">
            <a:extLst>
              <a:ext uri="{FF2B5EF4-FFF2-40B4-BE49-F238E27FC236}">
                <ns2:creationId id="{83992D03-49BA-4F03-9C36-5DFE4985CBBA}"/>
              </a:ext>
            </a:extLst>
          </p:cNvPr>
          <p:cNvSpPr>
            <a:spLocks noGrp="1"/>
          </p:cNvSpPr>
          <p:nvPr/>
        </p:nvSpPr>
        <p:spPr>
          <a:xfrm>
            <a:off x="876300" y="4810125"/>
            <a:ext cx="209550" cy="209550"/>
          </a:xfrm>
          <a:prstGeom prst="rect">
            <a:avLst/>
          </a:prstGeom>
          <a:solidFill>
            <a:srgbClr val="F4DFC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>
              <a:ext uri="{FF2B5EF4-FFF2-40B4-BE49-F238E27FC236}">
                <ns2:creationId id="{3D975FE6-DD0C-4E22-ABA4-297B15E65001}"/>
              </a:ext>
            </a:extLst>
          </p:cNvPr>
          <p:cNvSpPr>
            <a:spLocks noGrp="1"/>
          </p:cNvSpPr>
          <p:nvPr/>
        </p:nvSpPr>
        <p:spPr>
          <a:xfrm>
            <a:off x="1219200" y="4800600"/>
            <a:ext cx="1714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Limits</a:t>
            </a:r>
          </a:p>
        </p:txBody>
      </p:sp>
      <p:sp>
        <p:nvSpPr>
          <p:cNvPr id="28" name="">
            <a:extLst>
              <a:ext uri="{FF2B5EF4-FFF2-40B4-BE49-F238E27FC236}">
                <ns2:creationId id="{A7F8C7E2-DDBA-4087-9F9B-F40BF5DE37EA}"/>
              </a:ext>
            </a:extLst>
          </p:cNvPr>
          <p:cNvSpPr>
            <a:spLocks noGrp="1"/>
          </p:cNvSpPr>
          <p:nvPr/>
        </p:nvSpPr>
        <p:spPr>
          <a:xfrm>
            <a:off x="3371850" y="4800600"/>
            <a:ext cx="3905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57184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657184"/>
                </a:solidFill>
                <a:latin typeface="Avenir Next"/>
                <a:ea typeface="Avenir Next"/>
                <a:cs typeface="Avenir Next"/>
              </a:rPr>
              <a:t>25 MB ZIP, 600 files, 512 KB per file, 80 graph nodes</a:t>
            </a:r>
          </a:p>
        </p:txBody>
      </p:sp>
      <p:sp>
        <p:nvSpPr>
          <p:cNvPr id="29" name="">
            <a:extLst>
              <a:ext uri="{FF2B5EF4-FFF2-40B4-BE49-F238E27FC236}">
                <ns2:creationId id="{31A6CD30-8ACB-4AF4-BECB-6F37F542BE28}"/>
              </a:ext>
            </a:extLst>
          </p:cNvPr>
          <p:cNvSpPr>
            <a:spLocks noGrp="1"/>
          </p:cNvSpPr>
          <p:nvPr/>
        </p:nvSpPr>
        <p:spPr>
          <a:xfrm>
            <a:off x="8020050" y="4800600"/>
            <a:ext cx="2381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57184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657184"/>
                </a:solidFill>
                <a:latin typeface="Avenir Next"/>
                <a:ea typeface="Avenir Next"/>
                <a:cs typeface="Avenir Next"/>
              </a:rPr>
              <a:t>demo stays fast</a:t>
            </a:r>
          </a:p>
        </p:txBody>
      </p:sp>
      <p:sp>
        <p:nvSpPr>
          <p:cNvPr id="30" name="">
            <a:extLst>
              <a:ext uri="{FF2B5EF4-FFF2-40B4-BE49-F238E27FC236}">
                <ns2:creationId id="{755A174A-5A7A-47DD-BAF0-A0A831672008}"/>
              </a:ext>
            </a:extLst>
          </p:cNvPr>
          <p:cNvSpPr>
            <a:spLocks noGrp="1"/>
          </p:cNvSpPr>
          <p:nvPr/>
        </p:nvSpPr>
        <p:spPr>
          <a:xfrm>
            <a:off x="628650" y="5219700"/>
            <a:ext cx="10287000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0C3"/>
            </a:solidFill>
            <a:prstDash val="solid"/>
          </a:ln>
        </p:spPr>
      </p:sp>
      <p:sp>
        <p:nvSpPr>
          <p:cNvPr id="31" name="">
            <a:extLst>
              <a:ext uri="{FF2B5EF4-FFF2-40B4-BE49-F238E27FC236}">
                <ns2:creationId id="{0BB532CC-D899-4137-90E7-5FC2E039558B}"/>
              </a:ext>
            </a:extLst>
          </p:cNvPr>
          <p:cNvSpPr>
            <a:spLocks noGrp="1"/>
          </p:cNvSpPr>
          <p:nvPr/>
        </p:nvSpPr>
        <p:spPr>
          <a:xfrm>
            <a:off x="876300" y="5362575"/>
            <a:ext cx="209550" cy="209550"/>
          </a:xfrm>
          <a:prstGeom prst="rect">
            <a:avLst/>
          </a:prstGeom>
          <a:solidFill>
            <a:srgbClr val="DDF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>
              <a:ext uri="{FF2B5EF4-FFF2-40B4-BE49-F238E27FC236}">
                <ns2:creationId id="{1A452288-8DD6-4AEE-A220-32256E08E6BB}"/>
              </a:ext>
            </a:extLst>
          </p:cNvPr>
          <p:cNvSpPr>
            <a:spLocks noGrp="1"/>
          </p:cNvSpPr>
          <p:nvPr/>
        </p:nvSpPr>
        <p:spPr>
          <a:xfrm>
            <a:off x="1219200" y="5353050"/>
            <a:ext cx="1714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Binary skip</a:t>
            </a:r>
          </a:p>
        </p:txBody>
      </p:sp>
      <p:sp>
        <p:nvSpPr>
          <p:cNvPr id="33" name="">
            <a:extLst>
              <a:ext uri="{FF2B5EF4-FFF2-40B4-BE49-F238E27FC236}">
                <ns2:creationId id="{29A154F0-51EF-4ED9-81F8-D6E9D3FEFD8D}"/>
              </a:ext>
            </a:extLst>
          </p:cNvPr>
          <p:cNvSpPr>
            <a:spLocks noGrp="1"/>
          </p:cNvSpPr>
          <p:nvPr/>
        </p:nvSpPr>
        <p:spPr>
          <a:xfrm>
            <a:off x="3371850" y="5353050"/>
            <a:ext cx="3905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57184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657184"/>
                </a:solidFill>
                <a:latin typeface="Avenir Next"/>
                <a:ea typeface="Avenir Next"/>
                <a:cs typeface="Avenir Next"/>
              </a:rPr>
              <a:t>Ignores binary and unsupported formats</a:t>
            </a:r>
          </a:p>
        </p:txBody>
      </p:sp>
      <p:sp>
        <p:nvSpPr>
          <p:cNvPr id="34" name="">
            <a:extLst>
              <a:ext uri="{FF2B5EF4-FFF2-40B4-BE49-F238E27FC236}">
                <ns2:creationId id="{1EF7893C-1BA4-43A1-BF02-F1211FB373D6}"/>
              </a:ext>
            </a:extLst>
          </p:cNvPr>
          <p:cNvSpPr>
            <a:spLocks noGrp="1"/>
          </p:cNvSpPr>
          <p:nvPr/>
        </p:nvSpPr>
        <p:spPr>
          <a:xfrm>
            <a:off x="8020050" y="5353050"/>
            <a:ext cx="2381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57184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657184"/>
                </a:solidFill>
                <a:latin typeface="Avenir Next"/>
                <a:ea typeface="Avenir Next"/>
                <a:cs typeface="Avenir Next"/>
              </a:rPr>
              <a:t>bad files do not crash the flow</a:t>
            </a:r>
          </a:p>
        </p:txBody>
      </p:sp>
      <p:sp>
        <p:nvSpPr>
          <p:cNvPr id="35" name="">
            <a:extLst>
              <a:ext uri="{FF2B5EF4-FFF2-40B4-BE49-F238E27FC236}">
                <ns2:creationId id="{E755B8D2-484A-406A-B4E5-D2D3C2056B42}"/>
              </a:ext>
            </a:extLst>
          </p:cNvPr>
          <p:cNvSpPr>
            <a:spLocks noGrp="1"/>
          </p:cNvSpPr>
          <p:nvPr/>
        </p:nvSpPr>
        <p:spPr>
          <a:xfrm>
            <a:off x="609600" y="6286500"/>
            <a:ext cx="9620250" cy="9525"/>
          </a:xfrm>
          <a:prstGeom prst="rect">
            <a:avLst/>
          </a:prstGeom>
          <a:solidFill>
            <a:srgbClr val="D9D0C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>
              <a:ext uri="{FF2B5EF4-FFF2-40B4-BE49-F238E27FC236}">
                <ns2:creationId id="{D59D70E6-A757-460C-8F05-EDBD1AD6452E}"/>
              </a:ext>
            </a:extLst>
          </p:cNvPr>
          <p:cNvSpPr>
            <a:spLocks noGrp="1"/>
          </p:cNvSpPr>
          <p:nvPr/>
        </p:nvSpPr>
        <p:spPr>
          <a:xfrm>
            <a:off x="11106150" y="6362700"/>
            <a:ext cx="4572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657184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657184"/>
                </a:solidFill>
                <a:latin typeface="Avenir Next"/>
                <a:ea typeface="Avenir Next"/>
                <a:cs typeface="Avenir Next"/>
              </a:rPr>
              <a:t>05</a:t>
            </a:r>
          </a:p>
        </p:txBody>
      </p:sp>
    </p:spTree>
    <p:extLst>
      <p:ext uri="{BB962C8B-B14F-4D97-AF65-F5344CB8AC3E}">
        <ns3:creationId val="1238880103"/>
      </p:ext>
    </p:extLst>
  </p:cSld>
</p:sld>
</file>

<file path=ppt/slides/slide6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1" name="">
            <a:extLst>
              <a:ext uri="{FF2B5EF4-FFF2-40B4-BE49-F238E27FC236}">
                <ns2:creationId id="{0A211A9F-23F3-4E1D-8070-5F1B502948A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2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6-marker">
            <a:extLst>
              <a:ext uri="{FF2B5EF4-FFF2-40B4-BE49-F238E27FC236}">
                <ns2:creationId id="{E305BF92-FE61-4337-8E94-BDD60B22ED90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95250" cy="95250"/>
          </a:xfrm>
          <a:prstGeom prst="rect">
            <a:avLst/>
          </a:prstGeom>
          <a:solidFill>
            <a:srgbClr val="D890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6-label">
            <a:extLst>
              <a:ext uri="{FF2B5EF4-FFF2-40B4-BE49-F238E27FC236}">
                <ns2:creationId id="{410AE281-26E5-49BE-9DFB-33159B1388FF}"/>
              </a:ext>
            </a:extLst>
          </p:cNvPr>
          <p:cNvSpPr>
            <a:spLocks noGrp="1"/>
          </p:cNvSpPr>
          <p:nvPr/>
        </p:nvSpPr>
        <p:spPr>
          <a:xfrm>
            <a:off x="800100" y="381000"/>
            <a:ext cx="2857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657184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657184"/>
                </a:solidFill>
                <a:latin typeface="Avenir Next"/>
                <a:ea typeface="Avenir Next"/>
                <a:cs typeface="Avenir Next"/>
              </a:rPr>
              <a:t>DEMO</a:t>
            </a:r>
          </a:p>
        </p:txBody>
      </p:sp>
      <p:sp>
        <p:nvSpPr>
          <p:cNvPr id="4" name="">
            <a:extLst>
              <a:ext uri="{FF2B5EF4-FFF2-40B4-BE49-F238E27FC236}">
                <ns2:creationId id="{C9887FF3-E65F-4380-9787-BC7A986937D0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8763000" cy="1047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7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277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The live demo shows the full value in under two minutes.</a:t>
            </a:r>
          </a:p>
        </p:txBody>
      </p:sp>
      <p:sp>
        <p:nvSpPr>
          <p:cNvPr id="5" name="">
            <a:extLst>
              <a:ext uri="{FF2B5EF4-FFF2-40B4-BE49-F238E27FC236}">
                <ns2:creationId id="{BF9F65BA-E6DD-4AD3-9BE5-30A61D862158}"/>
              </a:ext>
            </a:extLst>
          </p:cNvPr>
          <p:cNvSpPr>
            <a:spLocks noGrp="1"/>
          </p:cNvSpPr>
          <p:nvPr/>
        </p:nvSpPr>
        <p:spPr>
          <a:xfrm>
            <a:off x="628650" y="1962150"/>
            <a:ext cx="79057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657184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657184"/>
                </a:solidFill>
                <a:latin typeface="Avenir Next"/>
                <a:ea typeface="Avenir Next"/>
                <a:cs typeface="Avenir Next"/>
              </a:rPr>
              <a:t>Use the bundled Mini Travel Planner repo: a small React + Vite and FastAPI app with frontend, backend, routes, services, models, and tests.</a:t>
            </a:r>
          </a:p>
        </p:txBody>
      </p:sp>
      <p:sp>
        <p:nvSpPr>
          <p:cNvPr id="6" name="">
            <a:extLst>
              <a:ext uri="{FF2B5EF4-FFF2-40B4-BE49-F238E27FC236}">
                <ns2:creationId id="{ECF69834-73A4-49A0-877D-044124B3F8C1}"/>
              </a:ext>
            </a:extLst>
          </p:cNvPr>
          <p:cNvSpPr>
            <a:spLocks noGrp="1"/>
          </p:cNvSpPr>
          <p:nvPr/>
        </p:nvSpPr>
        <p:spPr>
          <a:xfrm>
            <a:off x="1009650" y="3409950"/>
            <a:ext cx="9391650" cy="38100"/>
          </a:xfrm>
          <a:prstGeom prst="rect">
            <a:avLst/>
          </a:prstGeom>
          <a:solidFill>
            <a:srgbClr val="D9D0C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>
              <a:ext uri="{FF2B5EF4-FFF2-40B4-BE49-F238E27FC236}">
                <ns2:creationId id="{D1B4EA2E-280F-4C96-BB14-975C6E6F9857}"/>
              </a:ext>
            </a:extLst>
          </p:cNvPr>
          <p:cNvSpPr>
            <a:spLocks noGrp="1"/>
          </p:cNvSpPr>
          <p:nvPr/>
        </p:nvSpPr>
        <p:spPr>
          <a:xfrm>
            <a:off x="685800" y="3086100"/>
            <a:ext cx="590550" cy="590550"/>
          </a:xfrm>
          <a:prstGeom prst="rect">
            <a:avLst/>
          </a:prstGeom>
          <a:solidFill>
            <a:srgbClr val="D890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>
              <a:ext uri="{FF2B5EF4-FFF2-40B4-BE49-F238E27FC236}">
                <ns2:creationId id="{DF5F90C6-42CC-44AA-B00E-8A6A59099373}"/>
              </a:ext>
            </a:extLst>
          </p:cNvPr>
          <p:cNvSpPr>
            <a:spLocks noGrp="1"/>
          </p:cNvSpPr>
          <p:nvPr/>
        </p:nvSpPr>
        <p:spPr>
          <a:xfrm>
            <a:off x="685800" y="3238500"/>
            <a:ext cx="590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1</a:t>
            </a:r>
          </a:p>
        </p:txBody>
      </p:sp>
      <p:sp>
        <p:nvSpPr>
          <p:cNvPr id="9" name="">
            <a:extLst>
              <a:ext uri="{FF2B5EF4-FFF2-40B4-BE49-F238E27FC236}">
                <ns2:creationId id="{C8B8F753-6020-4728-A254-0CCAD7712336}"/>
              </a:ext>
            </a:extLst>
          </p:cNvPr>
          <p:cNvSpPr>
            <a:spLocks noGrp="1"/>
          </p:cNvSpPr>
          <p:nvPr/>
        </p:nvSpPr>
        <p:spPr>
          <a:xfrm>
            <a:off x="457200" y="3857625"/>
            <a:ext cx="10668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Select demo repo</a:t>
            </a:r>
          </a:p>
        </p:txBody>
      </p:sp>
      <p:sp>
        <p:nvSpPr>
          <p:cNvPr id="10" name="">
            <a:extLst>
              <a:ext uri="{FF2B5EF4-FFF2-40B4-BE49-F238E27FC236}">
                <ns2:creationId id="{D0577E5F-A171-4D4C-A5D1-6264A61E34B8}"/>
              </a:ext>
            </a:extLst>
          </p:cNvPr>
          <p:cNvSpPr>
            <a:spLocks noGrp="1"/>
          </p:cNvSpPr>
          <p:nvPr/>
        </p:nvSpPr>
        <p:spPr>
          <a:xfrm>
            <a:off x="2038350" y="3086100"/>
            <a:ext cx="590550" cy="590550"/>
          </a:xfrm>
          <a:prstGeom prst="rect">
            <a:avLst/>
          </a:prstGeom>
          <a:solidFill>
            <a:srgbClr val="10182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>
              <a:ext uri="{FF2B5EF4-FFF2-40B4-BE49-F238E27FC236}">
                <ns2:creationId id="{E321BA30-E3F5-4EA3-BFF3-71E701BEC145}"/>
              </a:ext>
            </a:extLst>
          </p:cNvPr>
          <p:cNvSpPr>
            <a:spLocks noGrp="1"/>
          </p:cNvSpPr>
          <p:nvPr/>
        </p:nvSpPr>
        <p:spPr>
          <a:xfrm>
            <a:off x="2038350" y="3238500"/>
            <a:ext cx="590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2</a:t>
            </a:r>
          </a:p>
        </p:txBody>
      </p:sp>
      <p:sp>
        <p:nvSpPr>
          <p:cNvPr id="12" name="">
            <a:extLst>
              <a:ext uri="{FF2B5EF4-FFF2-40B4-BE49-F238E27FC236}">
                <ns2:creationId id="{FD52C275-206D-4B77-9738-6CDCE622BF76}"/>
              </a:ext>
            </a:extLst>
          </p:cNvPr>
          <p:cNvSpPr>
            <a:spLocks noGrp="1"/>
          </p:cNvSpPr>
          <p:nvPr/>
        </p:nvSpPr>
        <p:spPr>
          <a:xfrm>
            <a:off x="1809750" y="3857625"/>
            <a:ext cx="10668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Generate quest</a:t>
            </a:r>
          </a:p>
        </p:txBody>
      </p:sp>
      <p:sp>
        <p:nvSpPr>
          <p:cNvPr id="13" name="">
            <a:extLst>
              <a:ext uri="{FF2B5EF4-FFF2-40B4-BE49-F238E27FC236}">
                <ns2:creationId id="{F6347711-0C23-4093-AF23-DE7017E4140C}"/>
              </a:ext>
            </a:extLst>
          </p:cNvPr>
          <p:cNvSpPr>
            <a:spLocks noGrp="1"/>
          </p:cNvSpPr>
          <p:nvPr/>
        </p:nvSpPr>
        <p:spPr>
          <a:xfrm>
            <a:off x="3390900" y="3086100"/>
            <a:ext cx="590550" cy="590550"/>
          </a:xfrm>
          <a:prstGeom prst="rect">
            <a:avLst/>
          </a:prstGeom>
          <a:solidFill>
            <a:srgbClr val="D890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>
              <a:ext uri="{FF2B5EF4-FFF2-40B4-BE49-F238E27FC236}">
                <ns2:creationId id="{EC5C7A80-BA68-449A-BA22-A3C06A9E3394}"/>
              </a:ext>
            </a:extLst>
          </p:cNvPr>
          <p:cNvSpPr>
            <a:spLocks noGrp="1"/>
          </p:cNvSpPr>
          <p:nvPr/>
        </p:nvSpPr>
        <p:spPr>
          <a:xfrm>
            <a:off x="3390900" y="3238500"/>
            <a:ext cx="590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3</a:t>
            </a:r>
          </a:p>
        </p:txBody>
      </p:sp>
      <p:sp>
        <p:nvSpPr>
          <p:cNvPr id="15" name="">
            <a:extLst>
              <a:ext uri="{FF2B5EF4-FFF2-40B4-BE49-F238E27FC236}">
                <ns2:creationId id="{89B38DC5-58EA-47C5-91FF-5AB3497DCEEE}"/>
              </a:ext>
            </a:extLst>
          </p:cNvPr>
          <p:cNvSpPr>
            <a:spLocks noGrp="1"/>
          </p:cNvSpPr>
          <p:nvPr/>
        </p:nvSpPr>
        <p:spPr>
          <a:xfrm>
            <a:off x="3162300" y="3857625"/>
            <a:ext cx="10668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Show fingerprint</a:t>
            </a:r>
          </a:p>
        </p:txBody>
      </p:sp>
      <p:sp>
        <p:nvSpPr>
          <p:cNvPr id="16" name="">
            <a:extLst>
              <a:ext uri="{FF2B5EF4-FFF2-40B4-BE49-F238E27FC236}">
                <ns2:creationId id="{5EE15D83-3C69-4197-AE63-E0EDD568308B}"/>
              </a:ext>
            </a:extLst>
          </p:cNvPr>
          <p:cNvSpPr>
            <a:spLocks noGrp="1"/>
          </p:cNvSpPr>
          <p:nvPr/>
        </p:nvSpPr>
        <p:spPr>
          <a:xfrm>
            <a:off x="4743450" y="3086100"/>
            <a:ext cx="590550" cy="590550"/>
          </a:xfrm>
          <a:prstGeom prst="rect">
            <a:avLst/>
          </a:prstGeom>
          <a:solidFill>
            <a:srgbClr val="10182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>
              <a:ext uri="{FF2B5EF4-FFF2-40B4-BE49-F238E27FC236}">
                <ns2:creationId id="{5299E0C9-A3F0-45F6-AEDB-7DBDBE23C127}"/>
              </a:ext>
            </a:extLst>
          </p:cNvPr>
          <p:cNvSpPr>
            <a:spLocks noGrp="1"/>
          </p:cNvSpPr>
          <p:nvPr/>
        </p:nvSpPr>
        <p:spPr>
          <a:xfrm>
            <a:off x="4743450" y="3238500"/>
            <a:ext cx="590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4</a:t>
            </a:r>
          </a:p>
        </p:txBody>
      </p:sp>
      <p:sp>
        <p:nvSpPr>
          <p:cNvPr id="18" name="">
            <a:extLst>
              <a:ext uri="{FF2B5EF4-FFF2-40B4-BE49-F238E27FC236}">
                <ns2:creationId id="{D9E7FE06-6306-486B-8A8F-890D685CC4B5}"/>
              </a:ext>
            </a:extLst>
          </p:cNvPr>
          <p:cNvSpPr>
            <a:spLocks noGrp="1"/>
          </p:cNvSpPr>
          <p:nvPr/>
        </p:nvSpPr>
        <p:spPr>
          <a:xfrm>
            <a:off x="4514850" y="3857625"/>
            <a:ext cx="10668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Open architecture</a:t>
            </a:r>
          </a:p>
        </p:txBody>
      </p:sp>
      <p:sp>
        <p:nvSpPr>
          <p:cNvPr id="19" name="">
            <a:extLst>
              <a:ext uri="{FF2B5EF4-FFF2-40B4-BE49-F238E27FC236}">
                <ns2:creationId id="{700A54DF-59CE-441D-9E93-DF29AA4B8C53}"/>
              </a:ext>
            </a:extLst>
          </p:cNvPr>
          <p:cNvSpPr>
            <a:spLocks noGrp="1"/>
          </p:cNvSpPr>
          <p:nvPr/>
        </p:nvSpPr>
        <p:spPr>
          <a:xfrm>
            <a:off x="6096000" y="3086100"/>
            <a:ext cx="590550" cy="590550"/>
          </a:xfrm>
          <a:prstGeom prst="rect">
            <a:avLst/>
          </a:prstGeom>
          <a:solidFill>
            <a:srgbClr val="D890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>
              <a:ext uri="{FF2B5EF4-FFF2-40B4-BE49-F238E27FC236}">
                <ns2:creationId id="{2208EB46-2614-4071-BBB5-03FEFB2FD314}"/>
              </a:ext>
            </a:extLst>
          </p:cNvPr>
          <p:cNvSpPr>
            <a:spLocks noGrp="1"/>
          </p:cNvSpPr>
          <p:nvPr/>
        </p:nvSpPr>
        <p:spPr>
          <a:xfrm>
            <a:off x="6096000" y="3238500"/>
            <a:ext cx="590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5</a:t>
            </a:r>
          </a:p>
        </p:txBody>
      </p:sp>
      <p:sp>
        <p:nvSpPr>
          <p:cNvPr id="21" name="">
            <a:extLst>
              <a:ext uri="{FF2B5EF4-FFF2-40B4-BE49-F238E27FC236}">
                <ns2:creationId id="{F109A99D-2013-4D37-8E90-6622489B6C9C}"/>
              </a:ext>
            </a:extLst>
          </p:cNvPr>
          <p:cNvSpPr>
            <a:spLocks noGrp="1"/>
          </p:cNvSpPr>
          <p:nvPr/>
        </p:nvSpPr>
        <p:spPr>
          <a:xfrm>
            <a:off x="5867400" y="3857625"/>
            <a:ext cx="10668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Review reading path</a:t>
            </a:r>
          </a:p>
        </p:txBody>
      </p:sp>
      <p:sp>
        <p:nvSpPr>
          <p:cNvPr id="22" name="">
            <a:extLst>
              <a:ext uri="{FF2B5EF4-FFF2-40B4-BE49-F238E27FC236}">
                <ns2:creationId id="{24748E7B-FEB9-4ED4-A52A-75CEB2847D2B}"/>
              </a:ext>
            </a:extLst>
          </p:cNvPr>
          <p:cNvSpPr>
            <a:spLocks noGrp="1"/>
          </p:cNvSpPr>
          <p:nvPr/>
        </p:nvSpPr>
        <p:spPr>
          <a:xfrm>
            <a:off x="7448550" y="3086100"/>
            <a:ext cx="590550" cy="590550"/>
          </a:xfrm>
          <a:prstGeom prst="rect">
            <a:avLst/>
          </a:prstGeom>
          <a:solidFill>
            <a:srgbClr val="10182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>
              <a:ext uri="{FF2B5EF4-FFF2-40B4-BE49-F238E27FC236}">
                <ns2:creationId id="{A51DC737-D736-40CE-B652-28A528B5D0A1}"/>
              </a:ext>
            </a:extLst>
          </p:cNvPr>
          <p:cNvSpPr>
            <a:spLocks noGrp="1"/>
          </p:cNvSpPr>
          <p:nvPr/>
        </p:nvSpPr>
        <p:spPr>
          <a:xfrm>
            <a:off x="7448550" y="3238500"/>
            <a:ext cx="590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6</a:t>
            </a:r>
          </a:p>
        </p:txBody>
      </p:sp>
      <p:sp>
        <p:nvSpPr>
          <p:cNvPr id="24" name="">
            <a:extLst>
              <a:ext uri="{FF2B5EF4-FFF2-40B4-BE49-F238E27FC236}">
                <ns2:creationId id="{A95537EA-7F0D-4CFE-9A8D-9A806158B008}"/>
              </a:ext>
            </a:extLst>
          </p:cNvPr>
          <p:cNvSpPr>
            <a:spLocks noGrp="1"/>
          </p:cNvSpPr>
          <p:nvPr/>
        </p:nvSpPr>
        <p:spPr>
          <a:xfrm>
            <a:off x="7219950" y="3857625"/>
            <a:ext cx="10668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Open component card</a:t>
            </a:r>
          </a:p>
        </p:txBody>
      </p:sp>
      <p:sp>
        <p:nvSpPr>
          <p:cNvPr id="25" name="">
            <a:extLst>
              <a:ext uri="{FF2B5EF4-FFF2-40B4-BE49-F238E27FC236}">
                <ns2:creationId id="{31F6D496-D227-4A86-8369-3E2CE4FB27C9}"/>
              </a:ext>
            </a:extLst>
          </p:cNvPr>
          <p:cNvSpPr>
            <a:spLocks noGrp="1"/>
          </p:cNvSpPr>
          <p:nvPr/>
        </p:nvSpPr>
        <p:spPr>
          <a:xfrm>
            <a:off x="8801100" y="3086100"/>
            <a:ext cx="590550" cy="590550"/>
          </a:xfrm>
          <a:prstGeom prst="rect">
            <a:avLst/>
          </a:prstGeom>
          <a:solidFill>
            <a:srgbClr val="D890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>
              <a:ext uri="{FF2B5EF4-FFF2-40B4-BE49-F238E27FC236}">
                <ns2:creationId id="{E8E3245D-6B8E-4444-ADE8-4FCBDF101EF1}"/>
              </a:ext>
            </a:extLst>
          </p:cNvPr>
          <p:cNvSpPr>
            <a:spLocks noGrp="1"/>
          </p:cNvSpPr>
          <p:nvPr/>
        </p:nvSpPr>
        <p:spPr>
          <a:xfrm>
            <a:off x="8801100" y="3238500"/>
            <a:ext cx="590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7</a:t>
            </a:r>
          </a:p>
        </p:txBody>
      </p:sp>
      <p:sp>
        <p:nvSpPr>
          <p:cNvPr id="27" name="">
            <a:extLst>
              <a:ext uri="{FF2B5EF4-FFF2-40B4-BE49-F238E27FC236}">
                <ns2:creationId id="{8413F868-FD9A-4F60-8ED7-F8E16EDFE0E9}"/>
              </a:ext>
            </a:extLst>
          </p:cNvPr>
          <p:cNvSpPr>
            <a:spLocks noGrp="1"/>
          </p:cNvSpPr>
          <p:nvPr/>
        </p:nvSpPr>
        <p:spPr>
          <a:xfrm>
            <a:off x="8572500" y="3857625"/>
            <a:ext cx="10668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Try quiz</a:t>
            </a:r>
          </a:p>
        </p:txBody>
      </p:sp>
      <p:sp>
        <p:nvSpPr>
          <p:cNvPr id="28" name="">
            <a:extLst>
              <a:ext uri="{FF2B5EF4-FFF2-40B4-BE49-F238E27FC236}">
                <ns2:creationId id="{0DE8B60C-8670-4600-9299-678B089CDC6D}"/>
              </a:ext>
            </a:extLst>
          </p:cNvPr>
          <p:cNvSpPr>
            <a:spLocks noGrp="1"/>
          </p:cNvSpPr>
          <p:nvPr/>
        </p:nvSpPr>
        <p:spPr>
          <a:xfrm>
            <a:off x="10153650" y="3086100"/>
            <a:ext cx="590550" cy="590550"/>
          </a:xfrm>
          <a:prstGeom prst="rect">
            <a:avLst/>
          </a:prstGeom>
          <a:solidFill>
            <a:srgbClr val="10182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>
              <a:ext uri="{FF2B5EF4-FFF2-40B4-BE49-F238E27FC236}">
                <ns2:creationId id="{B5695CF7-EEAB-4044-B7BA-2A3ECF471F87}"/>
              </a:ext>
            </a:extLst>
          </p:cNvPr>
          <p:cNvSpPr>
            <a:spLocks noGrp="1"/>
          </p:cNvSpPr>
          <p:nvPr/>
        </p:nvSpPr>
        <p:spPr>
          <a:xfrm>
            <a:off x="10153650" y="3238500"/>
            <a:ext cx="590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8</a:t>
            </a:r>
          </a:p>
        </p:txBody>
      </p:sp>
      <p:sp>
        <p:nvSpPr>
          <p:cNvPr id="30" name="">
            <a:extLst>
              <a:ext uri="{FF2B5EF4-FFF2-40B4-BE49-F238E27FC236}">
                <ns2:creationId id="{2B93B1F6-18F8-45CA-AC32-58805EA22C4E}"/>
              </a:ext>
            </a:extLst>
          </p:cNvPr>
          <p:cNvSpPr>
            <a:spLocks noGrp="1"/>
          </p:cNvSpPr>
          <p:nvPr/>
        </p:nvSpPr>
        <p:spPr>
          <a:xfrm>
            <a:off x="9925050" y="3857625"/>
            <a:ext cx="10668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Export guide</a:t>
            </a:r>
          </a:p>
        </p:txBody>
      </p:sp>
      <p:sp>
        <p:nvSpPr>
          <p:cNvPr id="31" name="">
            <a:extLst>
              <a:ext uri="{FF2B5EF4-FFF2-40B4-BE49-F238E27FC236}">
                <ns2:creationId id="{820F9310-8A26-4FAE-995C-537975A9AD73}"/>
              </a:ext>
            </a:extLst>
          </p:cNvPr>
          <p:cNvSpPr>
            <a:spLocks noGrp="1"/>
          </p:cNvSpPr>
          <p:nvPr/>
        </p:nvSpPr>
        <p:spPr>
          <a:xfrm>
            <a:off x="1771650" y="4857750"/>
            <a:ext cx="8001000" cy="723900"/>
          </a:xfrm>
          <a:prstGeom prst="rect">
            <a:avLst/>
          </a:prstGeom>
          <a:solidFill>
            <a:srgbClr val="10182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>
              <a:ext uri="{FF2B5EF4-FFF2-40B4-BE49-F238E27FC236}">
                <ns2:creationId id="{EEA7B0E8-DE07-4962-99AF-A1F3E9FC1DE8}"/>
              </a:ext>
            </a:extLst>
          </p:cNvPr>
          <p:cNvSpPr>
            <a:spLocks noGrp="1"/>
          </p:cNvSpPr>
          <p:nvPr/>
        </p:nvSpPr>
        <p:spPr>
          <a:xfrm>
            <a:off x="2019300" y="4991100"/>
            <a:ext cx="75057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Judges see React/Vite + FastAPI detection, route extraction, graph rendering, reading path, component cards, quiz, and export without connecting GitHub.</a:t>
            </a:r>
          </a:p>
        </p:txBody>
      </p:sp>
      <p:sp>
        <p:nvSpPr>
          <p:cNvPr id="33" name="">
            <a:extLst>
              <a:ext uri="{FF2B5EF4-FFF2-40B4-BE49-F238E27FC236}">
                <ns2:creationId id="{BB812C63-88D8-48C0-A120-C87ED448269B}"/>
              </a:ext>
            </a:extLst>
          </p:cNvPr>
          <p:cNvSpPr>
            <a:spLocks noGrp="1"/>
          </p:cNvSpPr>
          <p:nvPr/>
        </p:nvSpPr>
        <p:spPr>
          <a:xfrm>
            <a:off x="609600" y="6286500"/>
            <a:ext cx="9620250" cy="9525"/>
          </a:xfrm>
          <a:prstGeom prst="rect">
            <a:avLst/>
          </a:prstGeom>
          <a:solidFill>
            <a:srgbClr val="D9D0C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>
              <a:ext uri="{FF2B5EF4-FFF2-40B4-BE49-F238E27FC236}">
                <ns2:creationId id="{B9A485D9-4A1C-4521-A679-81D0469B8087}"/>
              </a:ext>
            </a:extLst>
          </p:cNvPr>
          <p:cNvSpPr>
            <a:spLocks noGrp="1"/>
          </p:cNvSpPr>
          <p:nvPr/>
        </p:nvSpPr>
        <p:spPr>
          <a:xfrm>
            <a:off x="11106150" y="6362700"/>
            <a:ext cx="4572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657184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657184"/>
                </a:solidFill>
                <a:latin typeface="Avenir Next"/>
                <a:ea typeface="Avenir Next"/>
                <a:cs typeface="Avenir Next"/>
              </a:rPr>
              <a:t>06</a:t>
            </a:r>
          </a:p>
        </p:txBody>
      </p:sp>
    </p:spTree>
    <p:extLst>
      <p:ext uri="{BB962C8B-B14F-4D97-AF65-F5344CB8AC3E}">
        <ns3:creationId val="1315946270"/>
      </p:ext>
    </p:extLst>
  </p:cSld>
</p:sld>
</file>

<file path=ppt/slides/slide7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1" name="">
            <a:extLst>
              <a:ext uri="{FF2B5EF4-FFF2-40B4-BE49-F238E27FC236}">
                <ns2:creationId id="{59DFA26A-EDDA-4175-8C8D-270B767BAC0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82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7-marker">
            <a:extLst>
              <a:ext uri="{FF2B5EF4-FFF2-40B4-BE49-F238E27FC236}">
                <ns2:creationId id="{BEED1AA7-0C82-4524-9C27-3A255D427BB8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95250" cy="95250"/>
          </a:xfrm>
          <a:prstGeom prst="rect">
            <a:avLst/>
          </a:prstGeom>
          <a:solidFill>
            <a:srgbClr val="3B6EA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7-label">
            <a:extLst>
              <a:ext uri="{FF2B5EF4-FFF2-40B4-BE49-F238E27FC236}">
                <ns2:creationId id="{EF466F47-ACE2-4C38-8649-44E75826DE6F}"/>
              </a:ext>
            </a:extLst>
          </p:cNvPr>
          <p:cNvSpPr>
            <a:spLocks noGrp="1"/>
          </p:cNvSpPr>
          <p:nvPr/>
        </p:nvSpPr>
        <p:spPr>
          <a:xfrm>
            <a:off x="800100" y="381000"/>
            <a:ext cx="2857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AAB4C3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AAB4C3"/>
                </a:solidFill>
                <a:latin typeface="Avenir Next"/>
                <a:ea typeface="Avenir Next"/>
                <a:cs typeface="Avenir Next"/>
              </a:rPr>
              <a:t>AI FUSION</a:t>
            </a:r>
          </a:p>
        </p:txBody>
      </p:sp>
      <p:sp>
        <p:nvSpPr>
          <p:cNvPr id="4" name="">
            <a:extLst>
              <a:ext uri="{FF2B5EF4-FFF2-40B4-BE49-F238E27FC236}">
                <ns2:creationId id="{2D80E235-3C41-4AB6-A1AE-C3AC22524130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8572500" cy="1047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7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AI can improve interpretation, but it cannot rewrite scanner facts.</a:t>
            </a:r>
          </a:p>
        </p:txBody>
      </p:sp>
      <p:sp>
        <p:nvSpPr>
          <p:cNvPr id="5" name="">
            <a:extLst>
              <a:ext uri="{FF2B5EF4-FFF2-40B4-BE49-F238E27FC236}">
                <ns2:creationId id="{1356AABC-9684-440F-9C1D-E012C8A051D8}"/>
              </a:ext>
            </a:extLst>
          </p:cNvPr>
          <p:cNvSpPr>
            <a:spLocks noGrp="1"/>
          </p:cNvSpPr>
          <p:nvPr/>
        </p:nvSpPr>
        <p:spPr>
          <a:xfrm>
            <a:off x="628650" y="1962150"/>
            <a:ext cx="78105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B9C3D4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B9C3D4"/>
                </a:solidFill>
                <a:latin typeface="Avenir Next"/>
                <a:ea typeface="Avenir Next"/>
                <a:cs typeface="Avenir Next"/>
              </a:rPr>
              <a:t>RepoQuest sends a bounded evidence pack to AI only when configured, then validates the structured response before showing it.</a:t>
            </a:r>
          </a:p>
        </p:txBody>
      </p:sp>
      <p:sp>
        <p:nvSpPr>
          <p:cNvPr id="6" name="">
            <a:extLst>
              <a:ext uri="{FF2B5EF4-FFF2-40B4-BE49-F238E27FC236}">
                <ns2:creationId id="{0077634A-DEF0-4423-BF5C-E58ADAEF2FA8}"/>
              </a:ext>
            </a:extLst>
          </p:cNvPr>
          <p:cNvSpPr>
            <a:spLocks noGrp="1"/>
          </p:cNvSpPr>
          <p:nvPr/>
        </p:nvSpPr>
        <p:spPr>
          <a:xfrm>
            <a:off x="819150" y="2781300"/>
            <a:ext cx="2990850" cy="1714500"/>
          </a:xfrm>
          <a:prstGeom prst="rect">
            <a:avLst/>
          </a:prstGeom>
          <a:solidFill>
            <a:srgbClr val="1C2B43"/>
          </a:solidFill>
          <a:ln w="9525">
            <a:solidFill>
              <a:srgbClr val="3B6EA8"/>
            </a:solidFill>
            <a:prstDash val="solid"/>
          </a:ln>
        </p:spPr>
      </p:sp>
      <p:sp>
        <p:nvSpPr>
          <p:cNvPr id="7" name="">
            <a:extLst>
              <a:ext uri="{FF2B5EF4-FFF2-40B4-BE49-F238E27FC236}">
                <ns2:creationId id="{CB085034-21A3-46EB-85EE-501B322051D4}"/>
              </a:ext>
            </a:extLst>
          </p:cNvPr>
          <p:cNvSpPr>
            <a:spLocks noGrp="1"/>
          </p:cNvSpPr>
          <p:nvPr/>
        </p:nvSpPr>
        <p:spPr>
          <a:xfrm>
            <a:off x="990600" y="2933700"/>
            <a:ext cx="26479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3B6EA8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3B6EA8"/>
                </a:solidFill>
                <a:latin typeface="Avenir Next"/>
                <a:ea typeface="Avenir Next"/>
                <a:cs typeface="Avenir Next"/>
              </a:rPr>
              <a:t>FACTS</a:t>
            </a:r>
          </a:p>
        </p:txBody>
      </p:sp>
      <p:sp>
        <p:nvSpPr>
          <p:cNvPr id="8" name="">
            <a:extLst>
              <a:ext uri="{FF2B5EF4-FFF2-40B4-BE49-F238E27FC236}">
                <ns2:creationId id="{A8306330-9B29-461C-9CAE-E5FC9BD1078A}"/>
              </a:ext>
            </a:extLst>
          </p:cNvPr>
          <p:cNvSpPr>
            <a:spLocks noGrp="1"/>
          </p:cNvSpPr>
          <p:nvPr/>
        </p:nvSpPr>
        <p:spPr>
          <a:xfrm>
            <a:off x="990600" y="3143250"/>
            <a:ext cx="26479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Deterministic layer</a:t>
            </a:r>
          </a:p>
        </p:txBody>
      </p:sp>
      <p:sp>
        <p:nvSpPr>
          <p:cNvPr id="9" name="">
            <a:extLst>
              <a:ext uri="{FF2B5EF4-FFF2-40B4-BE49-F238E27FC236}">
                <ns2:creationId id="{4D4A7AC6-BB4D-4539-87CB-6392B5378496}"/>
              </a:ext>
            </a:extLst>
          </p:cNvPr>
          <p:cNvSpPr>
            <a:spLocks noGrp="1"/>
          </p:cNvSpPr>
          <p:nvPr/>
        </p:nvSpPr>
        <p:spPr>
          <a:xfrm>
            <a:off x="990600" y="3524250"/>
            <a:ext cx="264795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C9D1DD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C9D1DD"/>
                </a:solidFill>
                <a:latin typeface="Avenir Next"/>
                <a:ea typeface="Avenir Next"/>
                <a:cs typeface="Avenir Next"/>
              </a:rPr>
              <a:t>Files scanned, routes, imports, graph edges, skipped files, and ZIP safety warnings.</a:t>
            </a:r>
          </a:p>
        </p:txBody>
      </p:sp>
      <p:sp>
        <p:nvSpPr>
          <p:cNvPr id="10" name="">
            <a:extLst>
              <a:ext uri="{FF2B5EF4-FFF2-40B4-BE49-F238E27FC236}">
                <ns2:creationId id="{AB2ECEEA-BDBE-4E5E-83D5-CFFB1E61D439}"/>
              </a:ext>
            </a:extLst>
          </p:cNvPr>
          <p:cNvSpPr>
            <a:spLocks noGrp="1"/>
          </p:cNvSpPr>
          <p:nvPr/>
        </p:nvSpPr>
        <p:spPr>
          <a:xfrm>
            <a:off x="4591050" y="2781300"/>
            <a:ext cx="2990850" cy="1714500"/>
          </a:xfrm>
          <a:prstGeom prst="rect">
            <a:avLst/>
          </a:prstGeom>
          <a:solidFill>
            <a:srgbClr val="1E3A34"/>
          </a:solidFill>
          <a:ln w="9525">
            <a:solidFill>
              <a:srgbClr val="2BAE8A"/>
            </a:solidFill>
            <a:prstDash val="solid"/>
          </a:ln>
        </p:spPr>
      </p:sp>
      <p:sp>
        <p:nvSpPr>
          <p:cNvPr id="11" name="">
            <a:extLst>
              <a:ext uri="{FF2B5EF4-FFF2-40B4-BE49-F238E27FC236}">
                <ns2:creationId id="{0CBBDC81-F0F6-4EE5-8C83-E3DBF1EDA07C}"/>
              </a:ext>
            </a:extLst>
          </p:cNvPr>
          <p:cNvSpPr>
            <a:spLocks noGrp="1"/>
          </p:cNvSpPr>
          <p:nvPr/>
        </p:nvSpPr>
        <p:spPr>
          <a:xfrm>
            <a:off x="4762500" y="2933700"/>
            <a:ext cx="26479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2BAE8A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2BAE8A"/>
                </a:solidFill>
                <a:latin typeface="Avenir Next"/>
                <a:ea typeface="Avenir Next"/>
                <a:cs typeface="Avenir Next"/>
              </a:rPr>
              <a:t>INTERPRETATION</a:t>
            </a:r>
          </a:p>
        </p:txBody>
      </p:sp>
      <p:sp>
        <p:nvSpPr>
          <p:cNvPr id="12" name="">
            <a:extLst>
              <a:ext uri="{FF2B5EF4-FFF2-40B4-BE49-F238E27FC236}">
                <ns2:creationId id="{A5E97042-41D9-4449-A876-656733AD26AF}"/>
              </a:ext>
            </a:extLst>
          </p:cNvPr>
          <p:cNvSpPr>
            <a:spLocks noGrp="1"/>
          </p:cNvSpPr>
          <p:nvPr/>
        </p:nvSpPr>
        <p:spPr>
          <a:xfrm>
            <a:off x="4762500" y="3143250"/>
            <a:ext cx="26479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AI Fusion layer</a:t>
            </a:r>
          </a:p>
        </p:txBody>
      </p:sp>
      <p:sp>
        <p:nvSpPr>
          <p:cNvPr id="13" name="">
            <a:extLst>
              <a:ext uri="{FF2B5EF4-FFF2-40B4-BE49-F238E27FC236}">
                <ns2:creationId id="{E5CB673D-0C33-4CB1-98DE-DCC35761F264}"/>
              </a:ext>
            </a:extLst>
          </p:cNvPr>
          <p:cNvSpPr>
            <a:spLocks noGrp="1"/>
          </p:cNvSpPr>
          <p:nvPr/>
        </p:nvSpPr>
        <p:spPr>
          <a:xfrm>
            <a:off x="4762500" y="3524250"/>
            <a:ext cx="264795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CDECE2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CDECE2"/>
                </a:solidFill>
                <a:latin typeface="Avenir Next"/>
                <a:ea typeface="Avenir Next"/>
                <a:cs typeface="Avenir Next"/>
              </a:rPr>
              <a:t>Project summary, architecture notes, entry-point ranking, risks, and recommendations.</a:t>
            </a:r>
          </a:p>
        </p:txBody>
      </p:sp>
      <p:sp>
        <p:nvSpPr>
          <p:cNvPr id="14" name="">
            <a:extLst>
              <a:ext uri="{FF2B5EF4-FFF2-40B4-BE49-F238E27FC236}">
                <ns2:creationId id="{70BD8217-0E0A-42F4-B499-A56D209FE862}"/>
              </a:ext>
            </a:extLst>
          </p:cNvPr>
          <p:cNvSpPr>
            <a:spLocks noGrp="1"/>
          </p:cNvSpPr>
          <p:nvPr/>
        </p:nvSpPr>
        <p:spPr>
          <a:xfrm>
            <a:off x="8362950" y="2781300"/>
            <a:ext cx="2552700" cy="1714500"/>
          </a:xfrm>
          <a:prstGeom prst="rect">
            <a:avLst/>
          </a:prstGeom>
          <a:solidFill>
            <a:srgbClr val="382E1F"/>
          </a:solidFill>
          <a:ln w="9525">
            <a:solidFill>
              <a:srgbClr val="D8903A"/>
            </a:solidFill>
            <a:prstDash val="solid"/>
          </a:ln>
        </p:spPr>
      </p:sp>
      <p:sp>
        <p:nvSpPr>
          <p:cNvPr id="15" name="">
            <a:extLst>
              <a:ext uri="{FF2B5EF4-FFF2-40B4-BE49-F238E27FC236}">
                <ns2:creationId id="{37538EFD-87BA-46E8-BAFC-080154853663}"/>
              </a:ext>
            </a:extLst>
          </p:cNvPr>
          <p:cNvSpPr>
            <a:spLocks noGrp="1"/>
          </p:cNvSpPr>
          <p:nvPr/>
        </p:nvSpPr>
        <p:spPr>
          <a:xfrm>
            <a:off x="8534400" y="2933700"/>
            <a:ext cx="22098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D8903A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D8903A"/>
                </a:solidFill>
                <a:latin typeface="Avenir Next"/>
                <a:ea typeface="Avenir Next"/>
                <a:cs typeface="Avenir Next"/>
              </a:rPr>
              <a:t>GATES</a:t>
            </a:r>
          </a:p>
        </p:txBody>
      </p:sp>
      <p:sp>
        <p:nvSpPr>
          <p:cNvPr id="16" name="">
            <a:extLst>
              <a:ext uri="{FF2B5EF4-FFF2-40B4-BE49-F238E27FC236}">
                <ns2:creationId id="{D06FE68D-9FDE-4C1C-AE4A-7B14E4BB15AB}"/>
              </a:ext>
            </a:extLst>
          </p:cNvPr>
          <p:cNvSpPr>
            <a:spLocks noGrp="1"/>
          </p:cNvSpPr>
          <p:nvPr/>
        </p:nvSpPr>
        <p:spPr>
          <a:xfrm>
            <a:off x="8534400" y="3143250"/>
            <a:ext cx="22098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Validation</a:t>
            </a:r>
          </a:p>
        </p:txBody>
      </p:sp>
      <p:sp>
        <p:nvSpPr>
          <p:cNvPr id="17" name="">
            <a:extLst>
              <a:ext uri="{FF2B5EF4-FFF2-40B4-BE49-F238E27FC236}">
                <ns2:creationId id="{333CFCF6-6EAC-4AC2-8131-34A35D63ACC9}"/>
              </a:ext>
            </a:extLst>
          </p:cNvPr>
          <p:cNvSpPr>
            <a:spLocks noGrp="1"/>
          </p:cNvSpPr>
          <p:nvPr/>
        </p:nvSpPr>
        <p:spPr>
          <a:xfrm>
            <a:off x="8534400" y="3524250"/>
            <a:ext cx="22098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F5E5CB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F5E5CB"/>
                </a:solidFill>
                <a:latin typeface="Avenir Next"/>
                <a:ea typeface="Avenir Next"/>
                <a:cs typeface="Avenir Next"/>
              </a:rPr>
              <a:t>Strict JSON, cited scanned files, no test claims, no execution advice, no secrets.</a:t>
            </a:r>
          </a:p>
        </p:txBody>
      </p:sp>
      <p:sp>
        <p:nvSpPr>
          <p:cNvPr id="18" name="">
            <a:extLst>
              <a:ext uri="{FF2B5EF4-FFF2-40B4-BE49-F238E27FC236}">
                <ns2:creationId id="{88F3D255-4468-469B-98AF-CF58CFFC58DA}"/>
              </a:ext>
            </a:extLst>
          </p:cNvPr>
          <p:cNvSpPr>
            <a:spLocks noGrp="1"/>
          </p:cNvSpPr>
          <p:nvPr/>
        </p:nvSpPr>
        <p:spPr>
          <a:xfrm>
            <a:off x="3810000" y="3624263"/>
            <a:ext cx="781050" cy="28575"/>
          </a:xfrm>
          <a:prstGeom prst="rect">
            <a:avLst/>
          </a:prstGeom>
          <a:solidFill>
            <a:srgbClr val="2BAE8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>
              <a:ext uri="{FF2B5EF4-FFF2-40B4-BE49-F238E27FC236}">
                <ns2:creationId id="{8268C8AA-6059-42E3-8726-1B1D94A928F7}"/>
              </a:ext>
            </a:extLst>
          </p:cNvPr>
          <p:cNvSpPr>
            <a:spLocks noGrp="1"/>
          </p:cNvSpPr>
          <p:nvPr/>
        </p:nvSpPr>
        <p:spPr>
          <a:xfrm>
            <a:off x="7581900" y="3624263"/>
            <a:ext cx="781050" cy="28575"/>
          </a:xfrm>
          <a:prstGeom prst="rect">
            <a:avLst/>
          </a:prstGeom>
          <a:solidFill>
            <a:srgbClr val="D890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>
              <a:ext uri="{FF2B5EF4-FFF2-40B4-BE49-F238E27FC236}">
                <ns2:creationId id="{7D9C4DEC-2A3E-4A3D-A3CF-5C12C6FA0E1B}"/>
              </a:ext>
            </a:extLst>
          </p:cNvPr>
          <p:cNvSpPr>
            <a:spLocks noGrp="1"/>
          </p:cNvSpPr>
          <p:nvPr/>
        </p:nvSpPr>
        <p:spPr>
          <a:xfrm>
            <a:off x="3276600" y="5010150"/>
            <a:ext cx="2190750" cy="400050"/>
          </a:xfrm>
          <a:prstGeom prst="rect">
            <a:avLst/>
          </a:prstGeom>
          <a:solidFill>
            <a:srgbClr val="25314B"/>
          </a:solidFill>
          <a:ln w="9525">
            <a:solidFill>
              <a:srgbClr val="4B5A78"/>
            </a:solidFill>
            <a:prstDash val="solid"/>
          </a:ln>
        </p:spPr>
      </p:sp>
      <p:sp>
        <p:nvSpPr>
          <p:cNvPr id="21" name="">
            <a:extLst>
              <a:ext uri="{FF2B5EF4-FFF2-40B4-BE49-F238E27FC236}">
                <ns2:creationId id="{3376CEA8-E325-43BD-BEF0-E853E176A532}"/>
              </a:ext>
            </a:extLst>
          </p:cNvPr>
          <p:cNvSpPr>
            <a:spLocks noGrp="1"/>
          </p:cNvSpPr>
          <p:nvPr/>
        </p:nvSpPr>
        <p:spPr>
          <a:xfrm>
            <a:off x="3409950" y="5076825"/>
            <a:ext cx="19240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DDE7F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DDE7F7"/>
                </a:solidFill>
                <a:latin typeface="Avenir Next"/>
                <a:ea typeface="Avenir Next"/>
                <a:cs typeface="Avenir Next"/>
              </a:rPr>
              <a:t>Accepted: cited and evidence-backed</a:t>
            </a:r>
          </a:p>
        </p:txBody>
      </p:sp>
      <p:sp>
        <p:nvSpPr>
          <p:cNvPr id="22" name="">
            <a:extLst>
              <a:ext uri="{FF2B5EF4-FFF2-40B4-BE49-F238E27FC236}">
                <ns2:creationId id="{82A58B05-0390-4935-81E3-FB7DE7FCD25A}"/>
              </a:ext>
            </a:extLst>
          </p:cNvPr>
          <p:cNvSpPr>
            <a:spLocks noGrp="1"/>
          </p:cNvSpPr>
          <p:nvPr/>
        </p:nvSpPr>
        <p:spPr>
          <a:xfrm>
            <a:off x="6096000" y="5010150"/>
            <a:ext cx="2190750" cy="400050"/>
          </a:xfrm>
          <a:prstGeom prst="rect">
            <a:avLst/>
          </a:prstGeom>
          <a:solidFill>
            <a:srgbClr val="4A2630"/>
          </a:solidFill>
          <a:ln w="9525">
            <a:solidFill>
              <a:srgbClr val="C05A67"/>
            </a:solidFill>
            <a:prstDash val="solid"/>
          </a:ln>
        </p:spPr>
      </p:sp>
      <p:sp>
        <p:nvSpPr>
          <p:cNvPr id="23" name="">
            <a:extLst>
              <a:ext uri="{FF2B5EF4-FFF2-40B4-BE49-F238E27FC236}">
                <ns2:creationId id="{FFEA5E3A-137B-4F07-80A6-58D0BC04E841}"/>
              </a:ext>
            </a:extLst>
          </p:cNvPr>
          <p:cNvSpPr>
            <a:spLocks noGrp="1"/>
          </p:cNvSpPr>
          <p:nvPr/>
        </p:nvSpPr>
        <p:spPr>
          <a:xfrm>
            <a:off x="6191250" y="5076825"/>
            <a:ext cx="2000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F6DAE0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F6DAE0"/>
                </a:solidFill>
                <a:latin typeface="Avenir Next"/>
                <a:ea typeface="Avenir Next"/>
                <a:cs typeface="Avenir Next"/>
              </a:rPr>
              <a:t>Rejected: missing evidence or unsafe claims</a:t>
            </a:r>
          </a:p>
        </p:txBody>
      </p:sp>
      <p:sp>
        <p:nvSpPr>
          <p:cNvPr id="24" name="">
            <a:extLst>
              <a:ext uri="{FF2B5EF4-FFF2-40B4-BE49-F238E27FC236}">
                <ns2:creationId id="{47BAC76C-A663-447F-B712-6814B5E0840B}"/>
              </a:ext>
            </a:extLst>
          </p:cNvPr>
          <p:cNvSpPr>
            <a:spLocks noGrp="1"/>
          </p:cNvSpPr>
          <p:nvPr/>
        </p:nvSpPr>
        <p:spPr>
          <a:xfrm>
            <a:off x="609600" y="6286500"/>
            <a:ext cx="9620250" cy="9525"/>
          </a:xfrm>
          <a:prstGeom prst="rect">
            <a:avLst/>
          </a:prstGeom>
          <a:solidFill>
            <a:srgbClr val="D9D0C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>
              <a:ext uri="{FF2B5EF4-FFF2-40B4-BE49-F238E27FC236}">
                <ns2:creationId id="{B88045BC-D3C4-4B50-843C-EFBBD38637C3}"/>
              </a:ext>
            </a:extLst>
          </p:cNvPr>
          <p:cNvSpPr>
            <a:spLocks noGrp="1"/>
          </p:cNvSpPr>
          <p:nvPr/>
        </p:nvSpPr>
        <p:spPr>
          <a:xfrm>
            <a:off x="11106150" y="6362700"/>
            <a:ext cx="4572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657184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657184"/>
                </a:solidFill>
                <a:latin typeface="Avenir Next"/>
                <a:ea typeface="Avenir Next"/>
                <a:cs typeface="Avenir Next"/>
              </a:rPr>
              <a:t>07</a:t>
            </a:r>
          </a:p>
        </p:txBody>
      </p:sp>
    </p:spTree>
    <p:extLst>
      <p:ext uri="{BB962C8B-B14F-4D97-AF65-F5344CB8AC3E}">
        <ns3:creationId val="1493760188"/>
      </p:ext>
    </p:extLst>
  </p:cSld>
</p:sld>
</file>

<file path=ppt/slides/slide8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1" name="">
            <a:extLst>
              <a:ext uri="{FF2B5EF4-FFF2-40B4-BE49-F238E27FC236}">
                <ns2:creationId id="{FBECF0E4-0C33-464E-A7B2-267A4709BE2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2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8-marker">
            <a:extLst>
              <a:ext uri="{FF2B5EF4-FFF2-40B4-BE49-F238E27FC236}">
                <ns2:creationId id="{9F70B73C-4BDA-4519-8239-C33C0ECA711B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95250" cy="95250"/>
          </a:xfrm>
          <a:prstGeom prst="rect">
            <a:avLst/>
          </a:prstGeom>
          <a:solidFill>
            <a:srgbClr val="2BAE8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8-label">
            <a:extLst>
              <a:ext uri="{FF2B5EF4-FFF2-40B4-BE49-F238E27FC236}">
                <ns2:creationId id="{85DA8D5A-82A4-485D-93D1-C3E8A7B38C09}"/>
              </a:ext>
            </a:extLst>
          </p:cNvPr>
          <p:cNvSpPr>
            <a:spLocks noGrp="1"/>
          </p:cNvSpPr>
          <p:nvPr/>
        </p:nvSpPr>
        <p:spPr>
          <a:xfrm>
            <a:off x="800100" y="381000"/>
            <a:ext cx="2857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657184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657184"/>
                </a:solidFill>
                <a:latin typeface="Avenir Next"/>
                <a:ea typeface="Avenir Next"/>
                <a:cs typeface="Avenir Next"/>
              </a:rPr>
              <a:t>IMPACT</a:t>
            </a:r>
          </a:p>
        </p:txBody>
      </p:sp>
      <p:sp>
        <p:nvSpPr>
          <p:cNvPr id="4" name="">
            <a:extLst>
              <a:ext uri="{FF2B5EF4-FFF2-40B4-BE49-F238E27FC236}">
                <ns2:creationId id="{5C635A63-5CB3-4919-8E3D-15E2C339E92B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9429750" cy="1047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7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277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RepoQuest turns discovery into a reusable artifact, not a one-off conversation.</a:t>
            </a:r>
          </a:p>
        </p:txBody>
      </p:sp>
      <p:sp>
        <p:nvSpPr>
          <p:cNvPr id="5" name="">
            <a:extLst>
              <a:ext uri="{FF2B5EF4-FFF2-40B4-BE49-F238E27FC236}">
                <ns2:creationId id="{0335BD18-E3F4-4393-B811-C8B931E19ED7}"/>
              </a:ext>
            </a:extLst>
          </p:cNvPr>
          <p:cNvSpPr>
            <a:spLocks noGrp="1"/>
          </p:cNvSpPr>
          <p:nvPr/>
        </p:nvSpPr>
        <p:spPr>
          <a:xfrm>
            <a:off x="628650" y="1962150"/>
            <a:ext cx="7239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657184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657184"/>
                </a:solidFill>
                <a:latin typeface="Avenir Next"/>
                <a:ea typeface="Avenir Next"/>
                <a:cs typeface="Avenir Next"/>
              </a:rPr>
              <a:t>The same output supports four audiences without changing the core workflow.</a:t>
            </a:r>
          </a:p>
        </p:txBody>
      </p:sp>
      <p:sp>
        <p:nvSpPr>
          <p:cNvPr id="6" name="">
            <a:extLst>
              <a:ext uri="{FF2B5EF4-FFF2-40B4-BE49-F238E27FC236}">
                <ns2:creationId id="{AF37A982-3BDD-4B99-8C5C-C854486629A8}"/>
              </a:ext>
            </a:extLst>
          </p:cNvPr>
          <p:cNvSpPr>
            <a:spLocks noGrp="1"/>
          </p:cNvSpPr>
          <p:nvPr/>
        </p:nvSpPr>
        <p:spPr>
          <a:xfrm>
            <a:off x="647700" y="2781300"/>
            <a:ext cx="2343150" cy="2057400"/>
          </a:xfrm>
          <a:prstGeom prst="rect">
            <a:avLst/>
          </a:prstGeom>
          <a:solidFill>
            <a:srgbClr val="DDF3EB"/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>
              <a:ext uri="{FF2B5EF4-FFF2-40B4-BE49-F238E27FC236}">
                <ns2:creationId id="{23980A1F-4968-4980-ACF4-7B603F6DAD80}"/>
              </a:ext>
            </a:extLst>
          </p:cNvPr>
          <p:cNvSpPr>
            <a:spLocks noGrp="1"/>
          </p:cNvSpPr>
          <p:nvPr/>
        </p:nvSpPr>
        <p:spPr>
          <a:xfrm>
            <a:off x="819150" y="2933700"/>
            <a:ext cx="2000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2BAE8A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2BAE8A"/>
                </a:solidFill>
                <a:latin typeface="Avenir Next"/>
                <a:ea typeface="Avenir Next"/>
                <a:cs typeface="Avenir Next"/>
              </a:rPr>
              <a:t>AUDIENCE 1</a:t>
            </a:r>
          </a:p>
        </p:txBody>
      </p:sp>
      <p:sp>
        <p:nvSpPr>
          <p:cNvPr id="8" name="">
            <a:extLst>
              <a:ext uri="{FF2B5EF4-FFF2-40B4-BE49-F238E27FC236}">
                <ns2:creationId id="{942DFF6F-10F9-412A-A925-A4E3C5D2F63E}"/>
              </a:ext>
            </a:extLst>
          </p:cNvPr>
          <p:cNvSpPr>
            <a:spLocks noGrp="1"/>
          </p:cNvSpPr>
          <p:nvPr/>
        </p:nvSpPr>
        <p:spPr>
          <a:xfrm>
            <a:off x="819150" y="3143250"/>
            <a:ext cx="2000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Developer</a:t>
            </a:r>
          </a:p>
        </p:txBody>
      </p:sp>
      <p:sp>
        <p:nvSpPr>
          <p:cNvPr id="9" name="">
            <a:extLst>
              <a:ext uri="{FF2B5EF4-FFF2-40B4-BE49-F238E27FC236}">
                <ns2:creationId id="{45D21FDA-BCD9-48CE-A166-82CDFAEC40F4}"/>
              </a:ext>
            </a:extLst>
          </p:cNvPr>
          <p:cNvSpPr>
            <a:spLocks noGrp="1"/>
          </p:cNvSpPr>
          <p:nvPr/>
        </p:nvSpPr>
        <p:spPr>
          <a:xfrm>
            <a:off x="819150" y="3524250"/>
            <a:ext cx="2000250" cy="1162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657184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657184"/>
                </a:solidFill>
                <a:latin typeface="Avenir Next"/>
                <a:ea typeface="Avenir Next"/>
                <a:cs typeface="Avenir Next"/>
              </a:rPr>
              <a:t>Knows where to start and what to read first.</a:t>
            </a:r>
          </a:p>
        </p:txBody>
      </p:sp>
      <p:sp>
        <p:nvSpPr>
          <p:cNvPr id="10" name="">
            <a:extLst>
              <a:ext uri="{FF2B5EF4-FFF2-40B4-BE49-F238E27FC236}">
                <ns2:creationId id="{569566CA-3E62-4BEB-8667-DD7E9B081365}"/>
              </a:ext>
            </a:extLst>
          </p:cNvPr>
          <p:cNvSpPr>
            <a:spLocks noGrp="1"/>
          </p:cNvSpPr>
          <p:nvPr/>
        </p:nvSpPr>
        <p:spPr>
          <a:xfrm>
            <a:off x="819150" y="5029200"/>
            <a:ext cx="2000250" cy="95250"/>
          </a:xfrm>
          <a:prstGeom prst="rect">
            <a:avLst/>
          </a:prstGeom>
          <a:solidFill>
            <a:srgbClr val="2BAE8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>
              <a:ext uri="{FF2B5EF4-FFF2-40B4-BE49-F238E27FC236}">
                <ns2:creationId id="{1C29F296-088B-4835-A970-035648B31868}"/>
              </a:ext>
            </a:extLst>
          </p:cNvPr>
          <p:cNvSpPr>
            <a:spLocks noGrp="1"/>
          </p:cNvSpPr>
          <p:nvPr/>
        </p:nvSpPr>
        <p:spPr>
          <a:xfrm>
            <a:off x="3429000" y="2781300"/>
            <a:ext cx="2343150" cy="2057400"/>
          </a:xfrm>
          <a:prstGeom prst="rect">
            <a:avLst/>
          </a:prstGeom>
          <a:solidFill>
            <a:srgbClr val="DCE8F5"/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>
              <a:ext uri="{FF2B5EF4-FFF2-40B4-BE49-F238E27FC236}">
                <ns2:creationId id="{62914519-E69D-40AE-B8D6-7217EAECA2AD}"/>
              </a:ext>
            </a:extLst>
          </p:cNvPr>
          <p:cNvSpPr>
            <a:spLocks noGrp="1"/>
          </p:cNvSpPr>
          <p:nvPr/>
        </p:nvSpPr>
        <p:spPr>
          <a:xfrm>
            <a:off x="3600450" y="2933700"/>
            <a:ext cx="2000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3B6EA8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3B6EA8"/>
                </a:solidFill>
                <a:latin typeface="Avenir Next"/>
                <a:ea typeface="Avenir Next"/>
                <a:cs typeface="Avenir Next"/>
              </a:rPr>
              <a:t>AUDIENCE 2</a:t>
            </a:r>
          </a:p>
        </p:txBody>
      </p:sp>
      <p:sp>
        <p:nvSpPr>
          <p:cNvPr id="13" name="">
            <a:extLst>
              <a:ext uri="{FF2B5EF4-FFF2-40B4-BE49-F238E27FC236}">
                <ns2:creationId id="{A798C6B3-7A87-4140-ACD3-4D337DED32BC}"/>
              </a:ext>
            </a:extLst>
          </p:cNvPr>
          <p:cNvSpPr>
            <a:spLocks noGrp="1"/>
          </p:cNvSpPr>
          <p:nvPr/>
        </p:nvSpPr>
        <p:spPr>
          <a:xfrm>
            <a:off x="3600450" y="3143250"/>
            <a:ext cx="2000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Reviewer</a:t>
            </a:r>
          </a:p>
        </p:txBody>
      </p:sp>
      <p:sp>
        <p:nvSpPr>
          <p:cNvPr id="14" name="">
            <a:extLst>
              <a:ext uri="{FF2B5EF4-FFF2-40B4-BE49-F238E27FC236}">
                <ns2:creationId id="{B10E838A-619B-44DE-B48C-8E2425E6DEA3}"/>
              </a:ext>
            </a:extLst>
          </p:cNvPr>
          <p:cNvSpPr>
            <a:spLocks noGrp="1"/>
          </p:cNvSpPr>
          <p:nvPr/>
        </p:nvSpPr>
        <p:spPr>
          <a:xfrm>
            <a:off x="3600450" y="3524250"/>
            <a:ext cx="2000250" cy="1162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657184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657184"/>
                </a:solidFill>
                <a:latin typeface="Avenir Next"/>
                <a:ea typeface="Avenir Next"/>
                <a:cs typeface="Avenir Next"/>
              </a:rPr>
              <a:t>Gets repo context before judging or triaging.</a:t>
            </a:r>
          </a:p>
        </p:txBody>
      </p:sp>
      <p:sp>
        <p:nvSpPr>
          <p:cNvPr id="15" name="">
            <a:extLst>
              <a:ext uri="{FF2B5EF4-FFF2-40B4-BE49-F238E27FC236}">
                <ns2:creationId id="{4A0358CD-A88E-4448-8495-F5494B5288E3}"/>
              </a:ext>
            </a:extLst>
          </p:cNvPr>
          <p:cNvSpPr>
            <a:spLocks noGrp="1"/>
          </p:cNvSpPr>
          <p:nvPr/>
        </p:nvSpPr>
        <p:spPr>
          <a:xfrm>
            <a:off x="3600450" y="5029200"/>
            <a:ext cx="2000250" cy="95250"/>
          </a:xfrm>
          <a:prstGeom prst="rect">
            <a:avLst/>
          </a:prstGeom>
          <a:solidFill>
            <a:srgbClr val="3B6EA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>
              <a:ext uri="{FF2B5EF4-FFF2-40B4-BE49-F238E27FC236}">
                <ns2:creationId id="{F1A38575-CAA8-4AE5-BB6E-9B230097B24F}"/>
              </a:ext>
            </a:extLst>
          </p:cNvPr>
          <p:cNvSpPr>
            <a:spLocks noGrp="1"/>
          </p:cNvSpPr>
          <p:nvPr/>
        </p:nvSpPr>
        <p:spPr>
          <a:xfrm>
            <a:off x="6210300" y="2781300"/>
            <a:ext cx="2343150" cy="2057400"/>
          </a:xfrm>
          <a:prstGeom prst="rect">
            <a:avLst/>
          </a:prstGeom>
          <a:solidFill>
            <a:srgbClr val="F4DFC1"/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>
              <a:ext uri="{FF2B5EF4-FFF2-40B4-BE49-F238E27FC236}">
                <ns2:creationId id="{6F3BA8CF-129C-43B3-AC00-17781472FC57}"/>
              </a:ext>
            </a:extLst>
          </p:cNvPr>
          <p:cNvSpPr>
            <a:spLocks noGrp="1"/>
          </p:cNvSpPr>
          <p:nvPr/>
        </p:nvSpPr>
        <p:spPr>
          <a:xfrm>
            <a:off x="6381750" y="2933700"/>
            <a:ext cx="2000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D8903A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D8903A"/>
                </a:solidFill>
                <a:latin typeface="Avenir Next"/>
                <a:ea typeface="Avenir Next"/>
                <a:cs typeface="Avenir Next"/>
              </a:rPr>
              <a:t>AUDIENCE 3</a:t>
            </a:r>
          </a:p>
        </p:txBody>
      </p:sp>
      <p:sp>
        <p:nvSpPr>
          <p:cNvPr id="18" name="">
            <a:extLst>
              <a:ext uri="{FF2B5EF4-FFF2-40B4-BE49-F238E27FC236}">
                <ns2:creationId id="{A541EFF8-9243-4F63-A6CC-B264918873A8}"/>
              </a:ext>
            </a:extLst>
          </p:cNvPr>
          <p:cNvSpPr>
            <a:spLocks noGrp="1"/>
          </p:cNvSpPr>
          <p:nvPr/>
        </p:nvSpPr>
        <p:spPr>
          <a:xfrm>
            <a:off x="6381750" y="3143250"/>
            <a:ext cx="2000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Team</a:t>
            </a:r>
          </a:p>
        </p:txBody>
      </p:sp>
      <p:sp>
        <p:nvSpPr>
          <p:cNvPr id="19" name="">
            <a:extLst>
              <a:ext uri="{FF2B5EF4-FFF2-40B4-BE49-F238E27FC236}">
                <ns2:creationId id="{592C8212-0957-4C33-82DC-739B91705792}"/>
              </a:ext>
            </a:extLst>
          </p:cNvPr>
          <p:cNvSpPr>
            <a:spLocks noGrp="1"/>
          </p:cNvSpPr>
          <p:nvPr/>
        </p:nvSpPr>
        <p:spPr>
          <a:xfrm>
            <a:off x="6381750" y="3524250"/>
            <a:ext cx="2000250" cy="1162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657184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657184"/>
                </a:solidFill>
                <a:latin typeface="Avenir Next"/>
                <a:ea typeface="Avenir Next"/>
                <a:cs typeface="Avenir Next"/>
              </a:rPr>
              <a:t>Receives onboarding docs and defense questions.</a:t>
            </a:r>
          </a:p>
        </p:txBody>
      </p:sp>
      <p:sp>
        <p:nvSpPr>
          <p:cNvPr id="20" name="">
            <a:extLst>
              <a:ext uri="{FF2B5EF4-FFF2-40B4-BE49-F238E27FC236}">
                <ns2:creationId id="{596A3EED-1E87-41E4-A95B-9D6D00E84E16}"/>
              </a:ext>
            </a:extLst>
          </p:cNvPr>
          <p:cNvSpPr>
            <a:spLocks noGrp="1"/>
          </p:cNvSpPr>
          <p:nvPr/>
        </p:nvSpPr>
        <p:spPr>
          <a:xfrm>
            <a:off x="6381750" y="5029200"/>
            <a:ext cx="2000250" cy="95250"/>
          </a:xfrm>
          <a:prstGeom prst="rect">
            <a:avLst/>
          </a:prstGeom>
          <a:solidFill>
            <a:srgbClr val="D890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>
              <a:ext uri="{FF2B5EF4-FFF2-40B4-BE49-F238E27FC236}">
                <ns2:creationId id="{497714F8-451F-4738-8A98-912821F94FA9}"/>
              </a:ext>
            </a:extLst>
          </p:cNvPr>
          <p:cNvSpPr>
            <a:spLocks noGrp="1"/>
          </p:cNvSpPr>
          <p:nvPr/>
        </p:nvSpPr>
        <p:spPr>
          <a:xfrm>
            <a:off x="8991600" y="2781300"/>
            <a:ext cx="2343150" cy="2057400"/>
          </a:xfrm>
          <a:prstGeom prst="rect">
            <a:avLst/>
          </a:prstGeom>
          <a:solidFill>
            <a:srgbClr val="F1D8DD"/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>
              <a:ext uri="{FF2B5EF4-FFF2-40B4-BE49-F238E27FC236}">
                <ns2:creationId id="{8F9B88AF-4638-403E-B26D-D9A44DAA6657}"/>
              </a:ext>
            </a:extLst>
          </p:cNvPr>
          <p:cNvSpPr>
            <a:spLocks noGrp="1"/>
          </p:cNvSpPr>
          <p:nvPr/>
        </p:nvSpPr>
        <p:spPr>
          <a:xfrm>
            <a:off x="9163050" y="2933700"/>
            <a:ext cx="2000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C05A67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C05A67"/>
                </a:solidFill>
                <a:latin typeface="Avenir Next"/>
                <a:ea typeface="Avenir Next"/>
                <a:cs typeface="Avenir Next"/>
              </a:rPr>
              <a:t>AUDIENCE 4</a:t>
            </a:r>
          </a:p>
        </p:txBody>
      </p:sp>
      <p:sp>
        <p:nvSpPr>
          <p:cNvPr id="23" name="">
            <a:extLst>
              <a:ext uri="{FF2B5EF4-FFF2-40B4-BE49-F238E27FC236}">
                <ns2:creationId id="{B618204C-54FD-4AE4-9A83-4DD5BBF8C71A}"/>
              </a:ext>
            </a:extLst>
          </p:cNvPr>
          <p:cNvSpPr>
            <a:spLocks noGrp="1"/>
          </p:cNvSpPr>
          <p:nvPr/>
        </p:nvSpPr>
        <p:spPr>
          <a:xfrm>
            <a:off x="9163050" y="3143250"/>
            <a:ext cx="2000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AI assistant</a:t>
            </a:r>
          </a:p>
        </p:txBody>
      </p:sp>
      <p:sp>
        <p:nvSpPr>
          <p:cNvPr id="24" name="">
            <a:extLst>
              <a:ext uri="{FF2B5EF4-FFF2-40B4-BE49-F238E27FC236}">
                <ns2:creationId id="{D2C1CBDF-448C-43FB-B7CD-70969E27B38C}"/>
              </a:ext>
            </a:extLst>
          </p:cNvPr>
          <p:cNvSpPr>
            <a:spLocks noGrp="1"/>
          </p:cNvSpPr>
          <p:nvPr/>
        </p:nvSpPr>
        <p:spPr>
          <a:xfrm>
            <a:off x="9163050" y="3524250"/>
            <a:ext cx="2000250" cy="1162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657184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657184"/>
                </a:solidFill>
                <a:latin typeface="Avenir Next"/>
                <a:ea typeface="Avenir Next"/>
                <a:cs typeface="Avenir Next"/>
              </a:rPr>
              <a:t>Gets better prompts grounded in real files.</a:t>
            </a:r>
          </a:p>
        </p:txBody>
      </p:sp>
      <p:sp>
        <p:nvSpPr>
          <p:cNvPr id="25" name="">
            <a:extLst>
              <a:ext uri="{FF2B5EF4-FFF2-40B4-BE49-F238E27FC236}">
                <ns2:creationId id="{25CB9A36-4E06-48D2-8211-5BF1EE65F242}"/>
              </a:ext>
            </a:extLst>
          </p:cNvPr>
          <p:cNvSpPr>
            <a:spLocks noGrp="1"/>
          </p:cNvSpPr>
          <p:nvPr/>
        </p:nvSpPr>
        <p:spPr>
          <a:xfrm>
            <a:off x="9163050" y="5029200"/>
            <a:ext cx="2000250" cy="95250"/>
          </a:xfrm>
          <a:prstGeom prst="rect">
            <a:avLst/>
          </a:prstGeom>
          <a:solidFill>
            <a:srgbClr val="C05A6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>
              <a:ext uri="{FF2B5EF4-FFF2-40B4-BE49-F238E27FC236}">
                <ns2:creationId id="{A2755E34-0005-45FC-B9EE-008DAEA822DE}"/>
              </a:ext>
            </a:extLst>
          </p:cNvPr>
          <p:cNvSpPr>
            <a:spLocks noGrp="1"/>
          </p:cNvSpPr>
          <p:nvPr/>
        </p:nvSpPr>
        <p:spPr>
          <a:xfrm>
            <a:off x="1828800" y="5543550"/>
            <a:ext cx="7810500" cy="457200"/>
          </a:xfrm>
          <a:prstGeom prst="rect">
            <a:avLst/>
          </a:prstGeom>
          <a:solidFill>
            <a:srgbClr val="10182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>
              <a:ext uri="{FF2B5EF4-FFF2-40B4-BE49-F238E27FC236}">
                <ns2:creationId id="{68B97135-700E-44EC-92C9-CBD715DFDC24}"/>
              </a:ext>
            </a:extLst>
          </p:cNvPr>
          <p:cNvSpPr>
            <a:spLocks noGrp="1"/>
          </p:cNvSpPr>
          <p:nvPr/>
        </p:nvSpPr>
        <p:spPr>
          <a:xfrm>
            <a:off x="2057400" y="5676900"/>
            <a:ext cx="73533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Output: fingerprint + architecture + reading path + cards + quiz + Markdown guide + Bob-ready prompts</a:t>
            </a:r>
          </a:p>
        </p:txBody>
      </p:sp>
      <p:sp>
        <p:nvSpPr>
          <p:cNvPr id="28" name="">
            <a:extLst>
              <a:ext uri="{FF2B5EF4-FFF2-40B4-BE49-F238E27FC236}">
                <ns2:creationId id="{42B40C73-13F6-4936-8B1C-B22CD55108F5}"/>
              </a:ext>
            </a:extLst>
          </p:cNvPr>
          <p:cNvSpPr>
            <a:spLocks noGrp="1"/>
          </p:cNvSpPr>
          <p:nvPr/>
        </p:nvSpPr>
        <p:spPr>
          <a:xfrm>
            <a:off x="609600" y="6286500"/>
            <a:ext cx="9620250" cy="9525"/>
          </a:xfrm>
          <a:prstGeom prst="rect">
            <a:avLst/>
          </a:prstGeom>
          <a:solidFill>
            <a:srgbClr val="D9D0C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>
              <a:ext uri="{FF2B5EF4-FFF2-40B4-BE49-F238E27FC236}">
                <ns2:creationId id="{E331D04D-5865-4886-887D-537945D9DC2E}"/>
              </a:ext>
            </a:extLst>
          </p:cNvPr>
          <p:cNvSpPr>
            <a:spLocks noGrp="1"/>
          </p:cNvSpPr>
          <p:nvPr/>
        </p:nvSpPr>
        <p:spPr>
          <a:xfrm>
            <a:off x="11106150" y="6362700"/>
            <a:ext cx="4572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657184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657184"/>
                </a:solidFill>
                <a:latin typeface="Avenir Next"/>
                <a:ea typeface="Avenir Next"/>
                <a:cs typeface="Avenir Next"/>
              </a:rPr>
              <a:t>08</a:t>
            </a:r>
          </a:p>
        </p:txBody>
      </p:sp>
    </p:spTree>
    <p:extLst>
      <p:ext uri="{BB962C8B-B14F-4D97-AF65-F5344CB8AC3E}">
        <ns3:creationId val="656599392"/>
      </p:ext>
    </p:extLst>
  </p:cSld>
</p:sld>
</file>

<file path=ppt/slides/slide9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1" name="">
            <a:extLst>
              <a:ext uri="{FF2B5EF4-FFF2-40B4-BE49-F238E27FC236}">
                <ns2:creationId id="{ACC91CE8-A0A9-426B-9C9F-421BD3F7C3B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2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9-marker">
            <a:extLst>
              <a:ext uri="{FF2B5EF4-FFF2-40B4-BE49-F238E27FC236}">
                <ns2:creationId id="{64E95C4F-51AD-4041-A8E5-9FC97DE232B3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95250" cy="95250"/>
          </a:xfrm>
          <a:prstGeom prst="rect">
            <a:avLst/>
          </a:prstGeom>
          <a:solidFill>
            <a:srgbClr val="3B6EA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9-label">
            <a:extLst>
              <a:ext uri="{FF2B5EF4-FFF2-40B4-BE49-F238E27FC236}">
                <ns2:creationId id="{6E688514-33D9-4AAC-8744-2442BCC7DF2B}"/>
              </a:ext>
            </a:extLst>
          </p:cNvPr>
          <p:cNvSpPr>
            <a:spLocks noGrp="1"/>
          </p:cNvSpPr>
          <p:nvPr/>
        </p:nvSpPr>
        <p:spPr>
          <a:xfrm>
            <a:off x="800100" y="381000"/>
            <a:ext cx="2857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657184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657184"/>
                </a:solidFill>
                <a:latin typeface="Avenir Next"/>
                <a:ea typeface="Avenir Next"/>
                <a:cs typeface="Avenir Next"/>
              </a:rPr>
              <a:t>BUILT WITH IBM BOB</a:t>
            </a:r>
          </a:p>
        </p:txBody>
      </p:sp>
      <p:sp>
        <p:nvSpPr>
          <p:cNvPr id="4" name="">
            <a:extLst>
              <a:ext uri="{FF2B5EF4-FFF2-40B4-BE49-F238E27FC236}">
                <ns2:creationId id="{BEA3CBFF-8624-4393-BEA2-29BBB0CE1BAC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9334500" cy="1047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7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277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IBM Bob accelerated the build; RepoQuest stays independently deployable.</a:t>
            </a:r>
          </a:p>
        </p:txBody>
      </p:sp>
      <p:sp>
        <p:nvSpPr>
          <p:cNvPr id="5" name="">
            <a:extLst>
              <a:ext uri="{FF2B5EF4-FFF2-40B4-BE49-F238E27FC236}">
                <ns2:creationId id="{ADDA40BF-E8BF-487D-85D0-443B8D22A3AA}"/>
              </a:ext>
            </a:extLst>
          </p:cNvPr>
          <p:cNvSpPr>
            <a:spLocks noGrp="1"/>
          </p:cNvSpPr>
          <p:nvPr/>
        </p:nvSpPr>
        <p:spPr>
          <a:xfrm>
            <a:off x="628650" y="1962150"/>
            <a:ext cx="74295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657184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657184"/>
                </a:solidFill>
                <a:latin typeface="Avenir Next"/>
                <a:ea typeface="Avenir Next"/>
                <a:cs typeface="Avenir Next"/>
              </a:rPr>
              <a:t>Bob helped create the app, tests, docs, and iteration trail. The app itself runs on Streamlit without IBM Bob at runtime.</a:t>
            </a:r>
          </a:p>
        </p:txBody>
      </p:sp>
      <p:sp>
        <p:nvSpPr>
          <p:cNvPr id="6" name="">
            <a:extLst>
              <a:ext uri="{FF2B5EF4-FFF2-40B4-BE49-F238E27FC236}">
                <ns2:creationId id="{CF426B3F-F9D3-4BAB-B51C-89D83E7B96EE}"/>
              </a:ext>
            </a:extLst>
          </p:cNvPr>
          <p:cNvSpPr>
            <a:spLocks noGrp="1"/>
          </p:cNvSpPr>
          <p:nvPr/>
        </p:nvSpPr>
        <p:spPr>
          <a:xfrm>
            <a:off x="1181100" y="2895600"/>
            <a:ext cx="1809750" cy="1257300"/>
          </a:xfrm>
          <a:prstGeom prst="rect">
            <a:avLst/>
          </a:prstGeom>
          <a:solidFill>
            <a:srgbClr val="DDF3EB"/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>
              <a:ext uri="{FF2B5EF4-FFF2-40B4-BE49-F238E27FC236}">
                <ns2:creationId id="{3011F88B-AA6E-4C88-BA0B-226FBCDE1820}"/>
              </a:ext>
            </a:extLst>
          </p:cNvPr>
          <p:cNvSpPr>
            <a:spLocks noGrp="1"/>
          </p:cNvSpPr>
          <p:nvPr/>
        </p:nvSpPr>
        <p:spPr>
          <a:xfrm>
            <a:off x="1352550" y="3048000"/>
            <a:ext cx="1466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2BAE8A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2BAE8A"/>
                </a:solidFill>
                <a:latin typeface="Avenir Next"/>
                <a:ea typeface="Avenir Next"/>
                <a:cs typeface="Avenir Next"/>
              </a:rPr>
              <a:t>STEP 1</a:t>
            </a:r>
          </a:p>
        </p:txBody>
      </p:sp>
      <p:sp>
        <p:nvSpPr>
          <p:cNvPr id="8" name="">
            <a:extLst>
              <a:ext uri="{FF2B5EF4-FFF2-40B4-BE49-F238E27FC236}">
                <ns2:creationId id="{41F7FFF7-D00E-49C7-8A38-E611A34E6257}"/>
              </a:ext>
            </a:extLst>
          </p:cNvPr>
          <p:cNvSpPr>
            <a:spLocks noGrp="1"/>
          </p:cNvSpPr>
          <p:nvPr/>
        </p:nvSpPr>
        <p:spPr>
          <a:xfrm>
            <a:off x="1352550" y="3257550"/>
            <a:ext cx="14668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Scaffold</a:t>
            </a:r>
          </a:p>
        </p:txBody>
      </p:sp>
      <p:sp>
        <p:nvSpPr>
          <p:cNvPr id="9" name="">
            <a:extLst>
              <a:ext uri="{FF2B5EF4-FFF2-40B4-BE49-F238E27FC236}">
                <ns2:creationId id="{207B173B-8F4E-49CA-8B3A-133152830090}"/>
              </a:ext>
            </a:extLst>
          </p:cNvPr>
          <p:cNvSpPr>
            <a:spLocks noGrp="1"/>
          </p:cNvSpPr>
          <p:nvPr/>
        </p:nvSpPr>
        <p:spPr>
          <a:xfrm>
            <a:off x="1352550" y="3638550"/>
            <a:ext cx="14668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57184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657184"/>
                </a:solidFill>
                <a:latin typeface="Avenir Next"/>
                <a:ea typeface="Avenir Next"/>
                <a:cs typeface="Avenir Next"/>
              </a:rPr>
              <a:t>repo structure + app shell</a:t>
            </a:r>
          </a:p>
        </p:txBody>
      </p:sp>
      <p:sp>
        <p:nvSpPr>
          <p:cNvPr id="10" name="">
            <a:extLst>
              <a:ext uri="{FF2B5EF4-FFF2-40B4-BE49-F238E27FC236}">
                <ns2:creationId id="{658A23BC-41E5-4F19-AFB3-78406EFF8F1E}"/>
              </a:ext>
            </a:extLst>
          </p:cNvPr>
          <p:cNvSpPr>
            <a:spLocks noGrp="1"/>
          </p:cNvSpPr>
          <p:nvPr/>
        </p:nvSpPr>
        <p:spPr>
          <a:xfrm>
            <a:off x="2990850" y="3509963"/>
            <a:ext cx="571500" cy="28575"/>
          </a:xfrm>
          <a:prstGeom prst="rect">
            <a:avLst/>
          </a:prstGeom>
          <a:solidFill>
            <a:srgbClr val="D890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>
              <a:ext uri="{FF2B5EF4-FFF2-40B4-BE49-F238E27FC236}">
                <ns2:creationId id="{56D7E786-0D5C-4DE2-88F9-953FB3C1B1ED}"/>
              </a:ext>
            </a:extLst>
          </p:cNvPr>
          <p:cNvSpPr>
            <a:spLocks noGrp="1"/>
          </p:cNvSpPr>
          <p:nvPr/>
        </p:nvSpPr>
        <p:spPr>
          <a:xfrm>
            <a:off x="3505200" y="3467100"/>
            <a:ext cx="114300" cy="114300"/>
          </a:xfrm>
          <a:prstGeom prst="rect">
            <a:avLst/>
          </a:prstGeom>
          <a:solidFill>
            <a:srgbClr val="D890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>
              <a:ext uri="{FF2B5EF4-FFF2-40B4-BE49-F238E27FC236}">
                <ns2:creationId id="{ED4E397E-F54E-43D2-A027-9C318B97D428}"/>
              </a:ext>
            </a:extLst>
          </p:cNvPr>
          <p:cNvSpPr>
            <a:spLocks noGrp="1"/>
          </p:cNvSpPr>
          <p:nvPr/>
        </p:nvSpPr>
        <p:spPr>
          <a:xfrm>
            <a:off x="3562350" y="2895600"/>
            <a:ext cx="1809750" cy="1257300"/>
          </a:xfrm>
          <a:prstGeom prst="rect">
            <a:avLst/>
          </a:prstGeom>
          <a:solidFill>
            <a:srgbClr val="DCE8F5"/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>
              <a:ext uri="{FF2B5EF4-FFF2-40B4-BE49-F238E27FC236}">
                <ns2:creationId id="{38149100-43C9-4E6E-80D4-82AF052D6AA9}"/>
              </a:ext>
            </a:extLst>
          </p:cNvPr>
          <p:cNvSpPr>
            <a:spLocks noGrp="1"/>
          </p:cNvSpPr>
          <p:nvPr/>
        </p:nvSpPr>
        <p:spPr>
          <a:xfrm>
            <a:off x="3733800" y="3048000"/>
            <a:ext cx="1466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3B6EA8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3B6EA8"/>
                </a:solidFill>
                <a:latin typeface="Avenir Next"/>
                <a:ea typeface="Avenir Next"/>
                <a:cs typeface="Avenir Next"/>
              </a:rPr>
              <a:t>STEP 2</a:t>
            </a:r>
          </a:p>
        </p:txBody>
      </p:sp>
      <p:sp>
        <p:nvSpPr>
          <p:cNvPr id="14" name="">
            <a:extLst>
              <a:ext uri="{FF2B5EF4-FFF2-40B4-BE49-F238E27FC236}">
                <ns2:creationId id="{CF04BA66-B7F3-4CEB-97DA-DE595D6D7318}"/>
              </a:ext>
            </a:extLst>
          </p:cNvPr>
          <p:cNvSpPr>
            <a:spLocks noGrp="1"/>
          </p:cNvSpPr>
          <p:nvPr/>
        </p:nvSpPr>
        <p:spPr>
          <a:xfrm>
            <a:off x="3733800" y="3257550"/>
            <a:ext cx="14668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Analyze</a:t>
            </a:r>
          </a:p>
        </p:txBody>
      </p:sp>
      <p:sp>
        <p:nvSpPr>
          <p:cNvPr id="15" name="">
            <a:extLst>
              <a:ext uri="{FF2B5EF4-FFF2-40B4-BE49-F238E27FC236}">
                <ns2:creationId id="{6A492CAF-3106-439A-9417-525CD9FB4D8D}"/>
              </a:ext>
            </a:extLst>
          </p:cNvPr>
          <p:cNvSpPr>
            <a:spLocks noGrp="1"/>
          </p:cNvSpPr>
          <p:nvPr/>
        </p:nvSpPr>
        <p:spPr>
          <a:xfrm>
            <a:off x="3733800" y="3638550"/>
            <a:ext cx="14668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57184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657184"/>
                </a:solidFill>
                <a:latin typeface="Avenir Next"/>
                <a:ea typeface="Avenir Next"/>
                <a:cs typeface="Avenir Next"/>
              </a:rPr>
              <a:t>scanner, detectors, graphs</a:t>
            </a:r>
          </a:p>
        </p:txBody>
      </p:sp>
      <p:sp>
        <p:nvSpPr>
          <p:cNvPr id="16" name="">
            <a:extLst>
              <a:ext uri="{FF2B5EF4-FFF2-40B4-BE49-F238E27FC236}">
                <ns2:creationId id="{E5E97312-DE72-4BF9-98F8-A166090EE8B4}"/>
              </a:ext>
            </a:extLst>
          </p:cNvPr>
          <p:cNvSpPr>
            <a:spLocks noGrp="1"/>
          </p:cNvSpPr>
          <p:nvPr/>
        </p:nvSpPr>
        <p:spPr>
          <a:xfrm>
            <a:off x="5372100" y="3509963"/>
            <a:ext cx="571500" cy="28575"/>
          </a:xfrm>
          <a:prstGeom prst="rect">
            <a:avLst/>
          </a:prstGeom>
          <a:solidFill>
            <a:srgbClr val="D890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>
              <a:ext uri="{FF2B5EF4-FFF2-40B4-BE49-F238E27FC236}">
                <ns2:creationId id="{DF7EA1EC-3278-4DF9-AE30-DFADA6A605DE}"/>
              </a:ext>
            </a:extLst>
          </p:cNvPr>
          <p:cNvSpPr>
            <a:spLocks noGrp="1"/>
          </p:cNvSpPr>
          <p:nvPr/>
        </p:nvSpPr>
        <p:spPr>
          <a:xfrm>
            <a:off x="5886450" y="3467100"/>
            <a:ext cx="114300" cy="114300"/>
          </a:xfrm>
          <a:prstGeom prst="rect">
            <a:avLst/>
          </a:prstGeom>
          <a:solidFill>
            <a:srgbClr val="D890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>
              <a:ext uri="{FF2B5EF4-FFF2-40B4-BE49-F238E27FC236}">
                <ns2:creationId id="{44646EB8-DFDD-43CF-BBD1-AA3DE43B98A4}"/>
              </a:ext>
            </a:extLst>
          </p:cNvPr>
          <p:cNvSpPr>
            <a:spLocks noGrp="1"/>
          </p:cNvSpPr>
          <p:nvPr/>
        </p:nvSpPr>
        <p:spPr>
          <a:xfrm>
            <a:off x="5943600" y="2895600"/>
            <a:ext cx="1809750" cy="1257300"/>
          </a:xfrm>
          <a:prstGeom prst="rect">
            <a:avLst/>
          </a:prstGeom>
          <a:solidFill>
            <a:srgbClr val="DDF3EB"/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>
              <a:ext uri="{FF2B5EF4-FFF2-40B4-BE49-F238E27FC236}">
                <ns2:creationId id="{1750077C-9346-41C5-93E8-5E88747FDCF6}"/>
              </a:ext>
            </a:extLst>
          </p:cNvPr>
          <p:cNvSpPr>
            <a:spLocks noGrp="1"/>
          </p:cNvSpPr>
          <p:nvPr/>
        </p:nvSpPr>
        <p:spPr>
          <a:xfrm>
            <a:off x="6115050" y="3048000"/>
            <a:ext cx="1466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2BAE8A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2BAE8A"/>
                </a:solidFill>
                <a:latin typeface="Avenir Next"/>
                <a:ea typeface="Avenir Next"/>
                <a:cs typeface="Avenir Next"/>
              </a:rPr>
              <a:t>STEP 3</a:t>
            </a:r>
          </a:p>
        </p:txBody>
      </p:sp>
      <p:sp>
        <p:nvSpPr>
          <p:cNvPr id="20" name="">
            <a:extLst>
              <a:ext uri="{FF2B5EF4-FFF2-40B4-BE49-F238E27FC236}">
                <ns2:creationId id="{891BF181-331F-4CC1-95BB-CBC5EFC33FE6}"/>
              </a:ext>
            </a:extLst>
          </p:cNvPr>
          <p:cNvSpPr>
            <a:spLocks noGrp="1"/>
          </p:cNvSpPr>
          <p:nvPr/>
        </p:nvSpPr>
        <p:spPr>
          <a:xfrm>
            <a:off x="6115050" y="3257550"/>
            <a:ext cx="14668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Build</a:t>
            </a:r>
          </a:p>
        </p:txBody>
      </p:sp>
      <p:sp>
        <p:nvSpPr>
          <p:cNvPr id="21" name="">
            <a:extLst>
              <a:ext uri="{FF2B5EF4-FFF2-40B4-BE49-F238E27FC236}">
                <ns2:creationId id="{57988814-1572-421A-9AC2-445B0B53BB0E}"/>
              </a:ext>
            </a:extLst>
          </p:cNvPr>
          <p:cNvSpPr>
            <a:spLocks noGrp="1"/>
          </p:cNvSpPr>
          <p:nvPr/>
        </p:nvSpPr>
        <p:spPr>
          <a:xfrm>
            <a:off x="6115050" y="3638550"/>
            <a:ext cx="14668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57184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657184"/>
                </a:solidFill>
                <a:latin typeface="Avenir Next"/>
                <a:ea typeface="Avenir Next"/>
                <a:cs typeface="Avenir Next"/>
              </a:rPr>
              <a:t>Streamlit UI + export</a:t>
            </a:r>
          </a:p>
        </p:txBody>
      </p:sp>
      <p:sp>
        <p:nvSpPr>
          <p:cNvPr id="22" name="">
            <a:extLst>
              <a:ext uri="{FF2B5EF4-FFF2-40B4-BE49-F238E27FC236}">
                <ns2:creationId id="{4289C181-1A63-4DF8-85D0-E51372F210AD}"/>
              </a:ext>
            </a:extLst>
          </p:cNvPr>
          <p:cNvSpPr>
            <a:spLocks noGrp="1"/>
          </p:cNvSpPr>
          <p:nvPr/>
        </p:nvSpPr>
        <p:spPr>
          <a:xfrm>
            <a:off x="7753350" y="3509963"/>
            <a:ext cx="571500" cy="28575"/>
          </a:xfrm>
          <a:prstGeom prst="rect">
            <a:avLst/>
          </a:prstGeom>
          <a:solidFill>
            <a:srgbClr val="D890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>
              <a:ext uri="{FF2B5EF4-FFF2-40B4-BE49-F238E27FC236}">
                <ns2:creationId id="{1A923A82-315F-4AC5-B7D2-62BFF0B80C5F}"/>
              </a:ext>
            </a:extLst>
          </p:cNvPr>
          <p:cNvSpPr>
            <a:spLocks noGrp="1"/>
          </p:cNvSpPr>
          <p:nvPr/>
        </p:nvSpPr>
        <p:spPr>
          <a:xfrm>
            <a:off x="8267700" y="3467100"/>
            <a:ext cx="114300" cy="114300"/>
          </a:xfrm>
          <a:prstGeom prst="rect">
            <a:avLst/>
          </a:prstGeom>
          <a:solidFill>
            <a:srgbClr val="D890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>
              <a:ext uri="{FF2B5EF4-FFF2-40B4-BE49-F238E27FC236}">
                <ns2:creationId id="{2D0A62D8-B711-4092-9180-7FF06DA20764}"/>
              </a:ext>
            </a:extLst>
          </p:cNvPr>
          <p:cNvSpPr>
            <a:spLocks noGrp="1"/>
          </p:cNvSpPr>
          <p:nvPr/>
        </p:nvSpPr>
        <p:spPr>
          <a:xfrm>
            <a:off x="8324850" y="2895600"/>
            <a:ext cx="1809750" cy="1257300"/>
          </a:xfrm>
          <a:prstGeom prst="rect">
            <a:avLst/>
          </a:prstGeom>
          <a:solidFill>
            <a:srgbClr val="DCE8F5"/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>
              <a:ext uri="{FF2B5EF4-FFF2-40B4-BE49-F238E27FC236}">
                <ns2:creationId id="{8668E102-B259-4CC9-80E7-E8A62A3F126D}"/>
              </a:ext>
            </a:extLst>
          </p:cNvPr>
          <p:cNvSpPr>
            <a:spLocks noGrp="1"/>
          </p:cNvSpPr>
          <p:nvPr/>
        </p:nvSpPr>
        <p:spPr>
          <a:xfrm>
            <a:off x="8496300" y="3048000"/>
            <a:ext cx="1466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3B6EA8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3B6EA8"/>
                </a:solidFill>
                <a:latin typeface="Avenir Next"/>
                <a:ea typeface="Avenir Next"/>
                <a:cs typeface="Avenir Next"/>
              </a:rPr>
              <a:t>STEP 4</a:t>
            </a:r>
          </a:p>
        </p:txBody>
      </p:sp>
      <p:sp>
        <p:nvSpPr>
          <p:cNvPr id="26" name="">
            <a:extLst>
              <a:ext uri="{FF2B5EF4-FFF2-40B4-BE49-F238E27FC236}">
                <ns2:creationId id="{404A1546-BE66-4A77-AC71-BC871075C93F}"/>
              </a:ext>
            </a:extLst>
          </p:cNvPr>
          <p:cNvSpPr>
            <a:spLocks noGrp="1"/>
          </p:cNvSpPr>
          <p:nvPr/>
        </p:nvSpPr>
        <p:spPr>
          <a:xfrm>
            <a:off x="8496300" y="3257550"/>
            <a:ext cx="14668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Verify</a:t>
            </a:r>
          </a:p>
        </p:txBody>
      </p:sp>
      <p:sp>
        <p:nvSpPr>
          <p:cNvPr id="27" name="">
            <a:extLst>
              <a:ext uri="{FF2B5EF4-FFF2-40B4-BE49-F238E27FC236}">
                <ns2:creationId id="{4FDD0AA7-D004-4906-974A-72BE049CBA5E}"/>
              </a:ext>
            </a:extLst>
          </p:cNvPr>
          <p:cNvSpPr>
            <a:spLocks noGrp="1"/>
          </p:cNvSpPr>
          <p:nvPr/>
        </p:nvSpPr>
        <p:spPr>
          <a:xfrm>
            <a:off x="8496300" y="3638550"/>
            <a:ext cx="14668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57184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657184"/>
                </a:solidFill>
                <a:latin typeface="Avenir Next"/>
                <a:ea typeface="Avenir Next"/>
                <a:cs typeface="Avenir Next"/>
              </a:rPr>
              <a:t>tests, docs, review</a:t>
            </a:r>
          </a:p>
        </p:txBody>
      </p:sp>
      <p:sp>
        <p:nvSpPr>
          <p:cNvPr id="28" name="">
            <a:extLst>
              <a:ext uri="{FF2B5EF4-FFF2-40B4-BE49-F238E27FC236}">
                <ns2:creationId id="{61BEFC08-1FA9-4F7C-9D6D-18F61BB1F109}"/>
              </a:ext>
            </a:extLst>
          </p:cNvPr>
          <p:cNvSpPr>
            <a:spLocks noGrp="1"/>
          </p:cNvSpPr>
          <p:nvPr/>
        </p:nvSpPr>
        <p:spPr>
          <a:xfrm>
            <a:off x="2038350" y="4895850"/>
            <a:ext cx="7239000" cy="666750"/>
          </a:xfrm>
          <a:prstGeom prst="rect">
            <a:avLst/>
          </a:prstGeom>
          <a:solidFill>
            <a:srgbClr val="10182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>
              <a:ext uri="{FF2B5EF4-FFF2-40B4-BE49-F238E27FC236}">
                <ns2:creationId id="{6A0DE1E3-2D04-41D8-82B2-9E84FD3F2955}"/>
              </a:ext>
            </a:extLst>
          </p:cNvPr>
          <p:cNvSpPr>
            <a:spLocks noGrp="1"/>
          </p:cNvSpPr>
          <p:nvPr/>
        </p:nvSpPr>
        <p:spPr>
          <a:xfrm>
            <a:off x="2324100" y="5048250"/>
            <a:ext cx="6667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Default mode remains deterministic, safe, fast, and credential-free. Optional AI Fusion is configured separately and validation-gated.</a:t>
            </a:r>
          </a:p>
        </p:txBody>
      </p:sp>
      <p:sp>
        <p:nvSpPr>
          <p:cNvPr id="30" name="">
            <a:extLst>
              <a:ext uri="{FF2B5EF4-FFF2-40B4-BE49-F238E27FC236}">
                <ns2:creationId id="{C26E6B6B-E848-4836-AD3E-87DDFFC5975E}"/>
              </a:ext>
            </a:extLst>
          </p:cNvPr>
          <p:cNvSpPr>
            <a:spLocks noGrp="1"/>
          </p:cNvSpPr>
          <p:nvPr/>
        </p:nvSpPr>
        <p:spPr>
          <a:xfrm>
            <a:off x="609600" y="6286500"/>
            <a:ext cx="9620250" cy="9525"/>
          </a:xfrm>
          <a:prstGeom prst="rect">
            <a:avLst/>
          </a:prstGeom>
          <a:solidFill>
            <a:srgbClr val="D9D0C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>
              <a:ext uri="{FF2B5EF4-FFF2-40B4-BE49-F238E27FC236}">
                <ns2:creationId id="{CA299B12-B290-4C0E-A855-D5F3540C08D4}"/>
              </a:ext>
            </a:extLst>
          </p:cNvPr>
          <p:cNvSpPr>
            <a:spLocks noGrp="1"/>
          </p:cNvSpPr>
          <p:nvPr/>
        </p:nvSpPr>
        <p:spPr>
          <a:xfrm>
            <a:off x="11106150" y="6362700"/>
            <a:ext cx="4572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657184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657184"/>
                </a:solidFill>
                <a:latin typeface="Avenir Next"/>
                <a:ea typeface="Avenir Next"/>
                <a:cs typeface="Avenir Next"/>
              </a:rPr>
              <a:t>09</a:t>
            </a:r>
          </a:p>
        </p:txBody>
      </p:sp>
    </p:spTree>
    <p:extLst>
      <p:ext uri="{BB962C8B-B14F-4D97-AF65-F5344CB8AC3E}">
        <ns3:creationId val="527355330"/>
      </p:ext>
    </p:extLst>
  </p:cSld>
</p:sld>
</file>

<file path=ppt/slides/slide10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1" name="">
            <a:extLst>
              <a:ext uri="{FF2B5EF4-FFF2-40B4-BE49-F238E27FC236}">
                <ns2:creationId id="{E1863351-75FC-40BE-8E26-BBB72DA1588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82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0-marker">
            <a:extLst>
              <a:ext uri="{FF2B5EF4-FFF2-40B4-BE49-F238E27FC236}">
                <ns2:creationId id="{3F988B30-B875-4280-BC7C-10BBA71FB320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95250" cy="95250"/>
          </a:xfrm>
          <a:prstGeom prst="rect">
            <a:avLst/>
          </a:prstGeom>
          <a:solidFill>
            <a:srgbClr val="D890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0-label">
            <a:extLst>
              <a:ext uri="{FF2B5EF4-FFF2-40B4-BE49-F238E27FC236}">
                <ns2:creationId id="{8E90AEE5-FEA8-405D-8418-64239AEB155E}"/>
              </a:ext>
            </a:extLst>
          </p:cNvPr>
          <p:cNvSpPr>
            <a:spLocks noGrp="1"/>
          </p:cNvSpPr>
          <p:nvPr/>
        </p:nvSpPr>
        <p:spPr>
          <a:xfrm>
            <a:off x="800100" y="381000"/>
            <a:ext cx="2857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AAB4C3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AAB4C3"/>
                </a:solidFill>
                <a:latin typeface="Avenir Next"/>
                <a:ea typeface="Avenir Next"/>
                <a:cs typeface="Avenir Next"/>
              </a:rPr>
              <a:t>CLOSE</a:t>
            </a:r>
          </a:p>
        </p:txBody>
      </p:sp>
      <p:sp>
        <p:nvSpPr>
          <p:cNvPr id="4" name="">
            <a:extLst>
              <a:ext uri="{FF2B5EF4-FFF2-40B4-BE49-F238E27FC236}">
                <ns2:creationId id="{B5EEAA84-14FD-40E2-B2FD-6C69F9A1B94A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8763000" cy="1047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7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RepoQuest helps developers answer the real first question: where do I start?</a:t>
            </a:r>
          </a:p>
        </p:txBody>
      </p:sp>
      <p:sp>
        <p:nvSpPr>
          <p:cNvPr id="5" name="">
            <a:extLst>
              <a:ext uri="{FF2B5EF4-FFF2-40B4-BE49-F238E27FC236}">
                <ns2:creationId id="{1871C926-ED80-47B4-BA5F-7B7B145B2877}"/>
              </a:ext>
            </a:extLst>
          </p:cNvPr>
          <p:cNvSpPr>
            <a:spLocks noGrp="1"/>
          </p:cNvSpPr>
          <p:nvPr/>
        </p:nvSpPr>
        <p:spPr>
          <a:xfrm>
            <a:off x="628650" y="1924050"/>
            <a:ext cx="76200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B9C3D4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B9C3D4"/>
                </a:solidFill>
                <a:latin typeface="Avenir Next"/>
                <a:ea typeface="Avenir Next"/>
                <a:cs typeface="Avenir Next"/>
              </a:rPr>
              <a:t>A safe static analyzer, a practical onboarding guide, and an optional AI interpretation layer for teams that want deeper synthesis.</a:t>
            </a:r>
          </a:p>
        </p:txBody>
      </p:sp>
      <p:sp>
        <p:nvSpPr>
          <p:cNvPr id="6" name="">
            <a:extLst>
              <a:ext uri="{FF2B5EF4-FFF2-40B4-BE49-F238E27FC236}">
                <ns2:creationId id="{2FA9F6D8-68FD-4CCD-9937-4ACBA5D91598}"/>
              </a:ext>
            </a:extLst>
          </p:cNvPr>
          <p:cNvSpPr>
            <a:spLocks noGrp="1"/>
          </p:cNvSpPr>
          <p:nvPr/>
        </p:nvSpPr>
        <p:spPr>
          <a:xfrm>
            <a:off x="876300" y="2971800"/>
            <a:ext cx="266700" cy="266700"/>
          </a:xfrm>
          <a:prstGeom prst="rect">
            <a:avLst/>
          </a:prstGeom>
          <a:solidFill>
            <a:srgbClr val="2BAE8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>
              <a:ext uri="{FF2B5EF4-FFF2-40B4-BE49-F238E27FC236}">
                <ns2:creationId id="{9BF986CE-5897-41C7-B863-02891050B6F2}"/>
              </a:ext>
            </a:extLst>
          </p:cNvPr>
          <p:cNvSpPr>
            <a:spLocks noGrp="1"/>
          </p:cNvSpPr>
          <p:nvPr/>
        </p:nvSpPr>
        <p:spPr>
          <a:xfrm>
            <a:off x="904875" y="2990850"/>
            <a:ext cx="2095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✓</a:t>
            </a:r>
          </a:p>
        </p:txBody>
      </p:sp>
      <p:sp>
        <p:nvSpPr>
          <p:cNvPr id="8" name="">
            <a:extLst>
              <a:ext uri="{FF2B5EF4-FFF2-40B4-BE49-F238E27FC236}">
                <ns2:creationId id="{6EC571B4-C3D5-4329-8317-B227BE72AA95}"/>
              </a:ext>
            </a:extLst>
          </p:cNvPr>
          <p:cNvSpPr>
            <a:spLocks noGrp="1"/>
          </p:cNvSpPr>
          <p:nvPr/>
        </p:nvSpPr>
        <p:spPr>
          <a:xfrm>
            <a:off x="1333500" y="2962275"/>
            <a:ext cx="5143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3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Deterministic — same repo, same evidence</a:t>
            </a:r>
          </a:p>
        </p:txBody>
      </p:sp>
      <p:sp>
        <p:nvSpPr>
          <p:cNvPr id="9" name="">
            <a:extLst>
              <a:ext uri="{FF2B5EF4-FFF2-40B4-BE49-F238E27FC236}">
                <ns2:creationId id="{2341678B-D854-4FB6-A292-08D0D3ACA733}"/>
              </a:ext>
            </a:extLst>
          </p:cNvPr>
          <p:cNvSpPr>
            <a:spLocks noGrp="1"/>
          </p:cNvSpPr>
          <p:nvPr/>
        </p:nvSpPr>
        <p:spPr>
          <a:xfrm>
            <a:off x="876300" y="3486150"/>
            <a:ext cx="266700" cy="266700"/>
          </a:xfrm>
          <a:prstGeom prst="rect">
            <a:avLst/>
          </a:prstGeom>
          <a:solidFill>
            <a:srgbClr val="3B6EA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>
              <a:ext uri="{FF2B5EF4-FFF2-40B4-BE49-F238E27FC236}">
                <ns2:creationId id="{4E5E6178-131E-47D1-B5AF-3A259ED6F564}"/>
              </a:ext>
            </a:extLst>
          </p:cNvPr>
          <p:cNvSpPr>
            <a:spLocks noGrp="1"/>
          </p:cNvSpPr>
          <p:nvPr/>
        </p:nvSpPr>
        <p:spPr>
          <a:xfrm>
            <a:off x="904875" y="3505200"/>
            <a:ext cx="2095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✓</a:t>
            </a:r>
          </a:p>
        </p:txBody>
      </p:sp>
      <p:sp>
        <p:nvSpPr>
          <p:cNvPr id="11" name="">
            <a:extLst>
              <a:ext uri="{FF2B5EF4-FFF2-40B4-BE49-F238E27FC236}">
                <ns2:creationId id="{8ED0256B-C3AF-4CDD-A9D5-21176F869B24}"/>
              </a:ext>
            </a:extLst>
          </p:cNvPr>
          <p:cNvSpPr>
            <a:spLocks noGrp="1"/>
          </p:cNvSpPr>
          <p:nvPr/>
        </p:nvSpPr>
        <p:spPr>
          <a:xfrm>
            <a:off x="1333500" y="3476625"/>
            <a:ext cx="5143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3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Safe — no uploaded code execution</a:t>
            </a:r>
          </a:p>
        </p:txBody>
      </p:sp>
      <p:sp>
        <p:nvSpPr>
          <p:cNvPr id="12" name="">
            <a:extLst>
              <a:ext uri="{FF2B5EF4-FFF2-40B4-BE49-F238E27FC236}">
                <ns2:creationId id="{5D6788B8-8CB3-4A49-A093-431705139CF4}"/>
              </a:ext>
            </a:extLst>
          </p:cNvPr>
          <p:cNvSpPr>
            <a:spLocks noGrp="1"/>
          </p:cNvSpPr>
          <p:nvPr/>
        </p:nvSpPr>
        <p:spPr>
          <a:xfrm>
            <a:off x="876300" y="4000500"/>
            <a:ext cx="266700" cy="266700"/>
          </a:xfrm>
          <a:prstGeom prst="rect">
            <a:avLst/>
          </a:prstGeom>
          <a:solidFill>
            <a:srgbClr val="2BAE8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>
              <a:ext uri="{FF2B5EF4-FFF2-40B4-BE49-F238E27FC236}">
                <ns2:creationId id="{5F0034AF-B0A6-4A2F-A537-26B8F06E34D2}"/>
              </a:ext>
            </a:extLst>
          </p:cNvPr>
          <p:cNvSpPr>
            <a:spLocks noGrp="1"/>
          </p:cNvSpPr>
          <p:nvPr/>
        </p:nvSpPr>
        <p:spPr>
          <a:xfrm>
            <a:off x="904875" y="4019550"/>
            <a:ext cx="2095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✓</a:t>
            </a:r>
          </a:p>
        </p:txBody>
      </p:sp>
      <p:sp>
        <p:nvSpPr>
          <p:cNvPr id="14" name="">
            <a:extLst>
              <a:ext uri="{FF2B5EF4-FFF2-40B4-BE49-F238E27FC236}">
                <ns2:creationId id="{0D394D06-4E2A-4359-BF65-7B83488BEEE4}"/>
              </a:ext>
            </a:extLst>
          </p:cNvPr>
          <p:cNvSpPr>
            <a:spLocks noGrp="1"/>
          </p:cNvSpPr>
          <p:nvPr/>
        </p:nvSpPr>
        <p:spPr>
          <a:xfrm>
            <a:off x="1333500" y="3990975"/>
            <a:ext cx="5143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3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Fast — demoable in 1-2 minutes</a:t>
            </a:r>
          </a:p>
        </p:txBody>
      </p:sp>
      <p:sp>
        <p:nvSpPr>
          <p:cNvPr id="15" name="">
            <a:extLst>
              <a:ext uri="{FF2B5EF4-FFF2-40B4-BE49-F238E27FC236}">
                <ns2:creationId id="{4F513A10-222C-4F60-9D11-7675D6D93F8A}"/>
              </a:ext>
            </a:extLst>
          </p:cNvPr>
          <p:cNvSpPr>
            <a:spLocks noGrp="1"/>
          </p:cNvSpPr>
          <p:nvPr/>
        </p:nvSpPr>
        <p:spPr>
          <a:xfrm>
            <a:off x="876300" y="4514850"/>
            <a:ext cx="266700" cy="266700"/>
          </a:xfrm>
          <a:prstGeom prst="rect">
            <a:avLst/>
          </a:prstGeom>
          <a:solidFill>
            <a:srgbClr val="3B6EA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>
              <a:ext uri="{FF2B5EF4-FFF2-40B4-BE49-F238E27FC236}">
                <ns2:creationId id="{527F2AC1-029A-4992-83B9-9ED2C0C29813}"/>
              </a:ext>
            </a:extLst>
          </p:cNvPr>
          <p:cNvSpPr>
            <a:spLocks noGrp="1"/>
          </p:cNvSpPr>
          <p:nvPr/>
        </p:nvSpPr>
        <p:spPr>
          <a:xfrm>
            <a:off x="904875" y="4533900"/>
            <a:ext cx="2095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✓</a:t>
            </a:r>
          </a:p>
        </p:txBody>
      </p:sp>
      <p:sp>
        <p:nvSpPr>
          <p:cNvPr id="17" name="">
            <a:extLst>
              <a:ext uri="{FF2B5EF4-FFF2-40B4-BE49-F238E27FC236}">
                <ns2:creationId id="{60E8D4E5-B3CF-46A0-AE6E-C88C14894139}"/>
              </a:ext>
            </a:extLst>
          </p:cNvPr>
          <p:cNvSpPr>
            <a:spLocks noGrp="1"/>
          </p:cNvSpPr>
          <p:nvPr/>
        </p:nvSpPr>
        <p:spPr>
          <a:xfrm>
            <a:off x="1333500" y="4505325"/>
            <a:ext cx="5143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3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Deployable — Streamlit Cloud friendly</a:t>
            </a:r>
          </a:p>
        </p:txBody>
      </p:sp>
      <p:sp>
        <p:nvSpPr>
          <p:cNvPr id="18" name="">
            <a:extLst>
              <a:ext uri="{FF2B5EF4-FFF2-40B4-BE49-F238E27FC236}">
                <ns2:creationId id="{A14D0BA5-4136-4325-84EB-7C4B22006475}"/>
              </a:ext>
            </a:extLst>
          </p:cNvPr>
          <p:cNvSpPr>
            <a:spLocks noGrp="1"/>
          </p:cNvSpPr>
          <p:nvPr/>
        </p:nvSpPr>
        <p:spPr>
          <a:xfrm>
            <a:off x="876300" y="5029200"/>
            <a:ext cx="266700" cy="266700"/>
          </a:xfrm>
          <a:prstGeom prst="rect">
            <a:avLst/>
          </a:prstGeom>
          <a:solidFill>
            <a:srgbClr val="2BAE8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>
              <a:ext uri="{FF2B5EF4-FFF2-40B4-BE49-F238E27FC236}">
                <ns2:creationId id="{0B6A695C-87AE-44FA-8776-784CADE4014B}"/>
              </a:ext>
            </a:extLst>
          </p:cNvPr>
          <p:cNvSpPr>
            <a:spLocks noGrp="1"/>
          </p:cNvSpPr>
          <p:nvPr/>
        </p:nvSpPr>
        <p:spPr>
          <a:xfrm>
            <a:off x="904875" y="5048250"/>
            <a:ext cx="2095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✓</a:t>
            </a:r>
          </a:p>
        </p:txBody>
      </p:sp>
      <p:sp>
        <p:nvSpPr>
          <p:cNvPr id="20" name="">
            <a:extLst>
              <a:ext uri="{FF2B5EF4-FFF2-40B4-BE49-F238E27FC236}">
                <ns2:creationId id="{F35F8A20-618D-46D7-B1E2-B3254AD616CA}"/>
              </a:ext>
            </a:extLst>
          </p:cNvPr>
          <p:cNvSpPr>
            <a:spLocks noGrp="1"/>
          </p:cNvSpPr>
          <p:nvPr/>
        </p:nvSpPr>
        <p:spPr>
          <a:xfrm>
            <a:off x="1333500" y="5019675"/>
            <a:ext cx="5143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3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Actionable — exports prompts and guide</a:t>
            </a:r>
          </a:p>
        </p:txBody>
      </p:sp>
      <p:sp>
        <p:nvSpPr>
          <p:cNvPr id="21" name="">
            <a:extLst>
              <a:ext uri="{FF2B5EF4-FFF2-40B4-BE49-F238E27FC236}">
                <ns2:creationId id="{6C04D465-9C5C-4080-842E-0E66358CA64F}"/>
              </a:ext>
            </a:extLst>
          </p:cNvPr>
          <p:cNvSpPr>
            <a:spLocks noGrp="1"/>
          </p:cNvSpPr>
          <p:nvPr/>
        </p:nvSpPr>
        <p:spPr>
          <a:xfrm>
            <a:off x="7524750" y="2857500"/>
            <a:ext cx="3181350" cy="1790700"/>
          </a:xfrm>
          <a:prstGeom prst="rect">
            <a:avLst/>
          </a:prstGeom>
          <a:solidFill>
            <a:srgbClr val="1B263A"/>
          </a:solidFill>
          <a:ln w="9525">
            <a:solidFill>
              <a:srgbClr val="34415A"/>
            </a:solidFill>
            <a:prstDash val="solid"/>
          </a:ln>
        </p:spPr>
      </p:sp>
      <p:sp>
        <p:nvSpPr>
          <p:cNvPr id="22" name="">
            <a:extLst>
              <a:ext uri="{FF2B5EF4-FFF2-40B4-BE49-F238E27FC236}">
                <ns2:creationId id="{E73AFF54-FCCD-4DA7-907B-C9AE65ED3495}"/>
              </a:ext>
            </a:extLst>
          </p:cNvPr>
          <p:cNvSpPr>
            <a:spLocks noGrp="1"/>
          </p:cNvSpPr>
          <p:nvPr/>
        </p:nvSpPr>
        <p:spPr>
          <a:xfrm>
            <a:off x="7810500" y="3143250"/>
            <a:ext cx="2571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D8903A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D8903A"/>
                </a:solidFill>
                <a:latin typeface="Avenir Next"/>
                <a:ea typeface="Avenir Next"/>
                <a:cs typeface="Avenir Next"/>
              </a:rPr>
              <a:t>Presentation</a:t>
            </a:r>
          </a:p>
        </p:txBody>
      </p:sp>
      <p:sp>
        <p:nvSpPr>
          <p:cNvPr id="23" name="">
            <a:extLst>
              <a:ext uri="{FF2B5EF4-FFF2-40B4-BE49-F238E27FC236}">
                <ns2:creationId id="{8D5D737C-1229-4FAE-9203-C8588A4587EE}"/>
              </a:ext>
            </a:extLst>
          </p:cNvPr>
          <p:cNvSpPr>
            <a:spLocks noGrp="1"/>
          </p:cNvSpPr>
          <p:nvPr/>
        </p:nvSpPr>
        <p:spPr>
          <a:xfrm>
            <a:off x="7810500" y="3448050"/>
            <a:ext cx="2571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4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RepoQuest</a:t>
            </a:r>
          </a:p>
        </p:txBody>
      </p:sp>
      <p:sp>
        <p:nvSpPr>
          <p:cNvPr id="24" name="">
            <a:extLst>
              <a:ext uri="{FF2B5EF4-FFF2-40B4-BE49-F238E27FC236}">
                <ns2:creationId id="{212FBD10-208C-4A4F-B284-CFD20FEB1B1C}"/>
              </a:ext>
            </a:extLst>
          </p:cNvPr>
          <p:cNvSpPr>
            <a:spLocks noGrp="1"/>
          </p:cNvSpPr>
          <p:nvPr/>
        </p:nvSpPr>
        <p:spPr>
          <a:xfrm>
            <a:off x="7810500" y="3924300"/>
            <a:ext cx="24765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C9D1DD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C9D1DD"/>
                </a:solidFill>
                <a:latin typeface="Avenir Next"/>
                <a:ea typeface="Avenir Next"/>
                <a:cs typeface="Avenir Next"/>
              </a:rPr>
              <a:t>Turn an unfamiliar repo into an onboarding quest.</a:t>
            </a:r>
          </a:p>
        </p:txBody>
      </p:sp>
      <p:sp>
        <p:nvSpPr>
          <p:cNvPr id="25" name="">
            <a:extLst>
              <a:ext uri="{FF2B5EF4-FFF2-40B4-BE49-F238E27FC236}">
                <ns2:creationId id="{B02F4C6C-FF63-4328-90D4-F5FCA3888BBA}"/>
              </a:ext>
            </a:extLst>
          </p:cNvPr>
          <p:cNvSpPr>
            <a:spLocks noGrp="1"/>
          </p:cNvSpPr>
          <p:nvPr/>
        </p:nvSpPr>
        <p:spPr>
          <a:xfrm>
            <a:off x="7810500" y="4876800"/>
            <a:ext cx="1809750" cy="323850"/>
          </a:xfrm>
          <a:prstGeom prst="rect">
            <a:avLst/>
          </a:prstGeom>
          <a:solidFill>
            <a:srgbClr val="D890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>
              <a:ext uri="{FF2B5EF4-FFF2-40B4-BE49-F238E27FC236}">
                <ns2:creationId id="{D4E73B7D-5682-4881-8B60-C8A2959B3B61}"/>
              </a:ext>
            </a:extLst>
          </p:cNvPr>
          <p:cNvSpPr>
            <a:spLocks noGrp="1"/>
          </p:cNvSpPr>
          <p:nvPr/>
        </p:nvSpPr>
        <p:spPr>
          <a:xfrm>
            <a:off x="7943850" y="4933950"/>
            <a:ext cx="1543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IBM Bob Hackathon</a:t>
            </a:r>
          </a:p>
        </p:txBody>
      </p:sp>
      <p:sp>
        <p:nvSpPr>
          <p:cNvPr id="27" name="">
            <a:extLst>
              <a:ext uri="{FF2B5EF4-FFF2-40B4-BE49-F238E27FC236}">
                <ns2:creationId id="{801FDE7D-0F4B-4FD3-890D-559C09DDBC0D}"/>
              </a:ext>
            </a:extLst>
          </p:cNvPr>
          <p:cNvSpPr>
            <a:spLocks noGrp="1"/>
          </p:cNvSpPr>
          <p:nvPr/>
        </p:nvSpPr>
        <p:spPr>
          <a:xfrm>
            <a:off x="7810500" y="5391150"/>
            <a:ext cx="28575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DDE7F7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DDE7F7"/>
                </a:solidFill>
                <a:latin typeface="Avenir Next"/>
                <a:ea typeface="Avenir Next"/>
                <a:cs typeface="Avenir Next"/>
              </a:rPr>
              <a:t>Ovidiu-Ștefan Andreescu</a:t>
            </a:r>
          </a:p>
          <a:p>
            <a:pPr algn="l">
              <a:defRPr sz="1200" b="1">
                <a:solidFill>
                  <a:srgbClr val="DDE7F7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DDE7F7"/>
                </a:solidFill>
                <a:latin typeface="Avenir Next"/>
                <a:ea typeface="Avenir Next"/>
                <a:cs typeface="Avenir Next"/>
              </a:rPr>
              <a:t>Sirbu-Boeti-Eduard</a:t>
            </a:r>
          </a:p>
        </p:txBody>
      </p:sp>
      <p:sp>
        <p:nvSpPr>
          <p:cNvPr id="28" name="">
            <a:extLst>
              <a:ext uri="{FF2B5EF4-FFF2-40B4-BE49-F238E27FC236}">
                <ns2:creationId id="{35E8BE2D-1732-4ED5-B339-CCEC3FB40F32}"/>
              </a:ext>
            </a:extLst>
          </p:cNvPr>
          <p:cNvSpPr>
            <a:spLocks noGrp="1"/>
          </p:cNvSpPr>
          <p:nvPr/>
        </p:nvSpPr>
        <p:spPr>
          <a:xfrm>
            <a:off x="609600" y="6286500"/>
            <a:ext cx="9620250" cy="9525"/>
          </a:xfrm>
          <a:prstGeom prst="rect">
            <a:avLst/>
          </a:prstGeom>
          <a:solidFill>
            <a:srgbClr val="D9D0C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>
              <a:ext uri="{FF2B5EF4-FFF2-40B4-BE49-F238E27FC236}">
                <ns2:creationId id="{C292D0A1-8AA4-472B-94C4-83DA8C695C19}"/>
              </a:ext>
            </a:extLst>
          </p:cNvPr>
          <p:cNvSpPr>
            <a:spLocks noGrp="1"/>
          </p:cNvSpPr>
          <p:nvPr/>
        </p:nvSpPr>
        <p:spPr>
          <a:xfrm>
            <a:off x="11106150" y="6362700"/>
            <a:ext cx="4572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657184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657184"/>
                </a:solidFill>
                <a:latin typeface="Avenir Next"/>
                <a:ea typeface="Avenir Next"/>
                <a:cs typeface="Avenir Next"/>
              </a:rPr>
              <a:t>10</a:t>
            </a:r>
          </a:p>
        </p:txBody>
      </p:sp>
    </p:spTree>
    <p:extLst>
      <p:ext uri="{BB962C8B-B14F-4D97-AF65-F5344CB8AC3E}">
        <ns3:creationId val="18679991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2026-05-17T14:47:11.9710000Z</dcterms:created>
  <dcterms:modified xsi:type="dcterms:W3CDTF">2026-05-17T14:47:11.9710000Z</dcterms:modified>
</coreProperties>
</file>